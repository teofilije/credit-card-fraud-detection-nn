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7" r:id="rId9"/>
    <p:sldId id="268" r:id="rId10"/>
    <p:sldId id="269" r:id="rId11"/>
    <p:sldId id="266" r:id="rId12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C5888B75-405F-A3AA-1259-F1CC82E271F3}" v="719" dt="2026-05-31T10:47:40.141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Umereni stil 2 – Naglašavanj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18" Type="http://schemas.microsoft.com/office/2015/10/relationships/revisionInfo" Target="revisionInfo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Čuvar mesta za zaglavlj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6111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sr-Latn-RS"/>
          </a:p>
        </p:txBody>
      </p:sp>
      <p:sp>
        <p:nvSpPr>
          <p:cNvPr id="3" name="Čuvar mesta za datum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6111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EFEACB0-97BF-4828-97F2-B60FC8F15AA1}" type="datetimeFigureOut">
              <a:t>31.5.2026.</a:t>
            </a:fld>
            <a:endParaRPr lang="sr-Latn-RS"/>
          </a:p>
        </p:txBody>
      </p:sp>
      <p:sp>
        <p:nvSpPr>
          <p:cNvPr id="4" name="Čuvar mesta za sliku na slajdu 3"/>
          <p:cNvSpPr>
            <a:spLocks noGrp="1" noRot="1" noChangeAspect="1"/>
          </p:cNvSpPr>
          <p:nvPr>
            <p:ph type="sldImg" idx="2"/>
          </p:nvPr>
        </p:nvSpPr>
        <p:spPr>
          <a:xfrm>
            <a:off x="-228600" y="1524000"/>
            <a:ext cx="7315200" cy="41148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sr-Latn-RS"/>
          </a:p>
        </p:txBody>
      </p:sp>
      <p:sp>
        <p:nvSpPr>
          <p:cNvPr id="5" name="Čuvar mesta za napomene 4"/>
          <p:cNvSpPr>
            <a:spLocks noGrp="1"/>
          </p:cNvSpPr>
          <p:nvPr>
            <p:ph type="body" sz="quarter" idx="3"/>
          </p:nvPr>
        </p:nvSpPr>
        <p:spPr>
          <a:xfrm>
            <a:off x="685800" y="5867400"/>
            <a:ext cx="5486400" cy="48006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sr-Latn-RS"/>
              <a:t>Kliknite da biste uredili stilove teksta mastera</a:t>
            </a:r>
          </a:p>
          <a:p>
            <a:pPr lvl="1"/>
            <a:r>
              <a:rPr lang="sr-Latn-RS"/>
              <a:t>Drugi nivo</a:t>
            </a:r>
          </a:p>
          <a:p>
            <a:pPr lvl="2"/>
            <a:r>
              <a:rPr lang="sr-Latn-RS"/>
              <a:t>Treći nivo</a:t>
            </a:r>
          </a:p>
          <a:p>
            <a:pPr lvl="3"/>
            <a:r>
              <a:rPr lang="sr-Latn-RS"/>
              <a:t>Četvrti nivo</a:t>
            </a:r>
          </a:p>
          <a:p>
            <a:pPr lvl="4"/>
            <a:r>
              <a:rPr lang="sr-Latn-RS"/>
              <a:t>Peti nivo</a:t>
            </a:r>
          </a:p>
        </p:txBody>
      </p:sp>
      <p:sp>
        <p:nvSpPr>
          <p:cNvPr id="6" name="Čuvar mesta za podnožje 5"/>
          <p:cNvSpPr>
            <a:spLocks noGrp="1"/>
          </p:cNvSpPr>
          <p:nvPr>
            <p:ph type="ftr" sz="quarter" idx="4"/>
          </p:nvPr>
        </p:nvSpPr>
        <p:spPr>
          <a:xfrm>
            <a:off x="0" y="11580813"/>
            <a:ext cx="2971800" cy="6111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sr-Latn-RS"/>
          </a:p>
        </p:txBody>
      </p:sp>
      <p:sp>
        <p:nvSpPr>
          <p:cNvPr id="7" name="Čuvar mesta za broj slajda 6"/>
          <p:cNvSpPr>
            <a:spLocks noGrp="1"/>
          </p:cNvSpPr>
          <p:nvPr>
            <p:ph type="sldNum" sz="quarter" idx="5"/>
          </p:nvPr>
        </p:nvSpPr>
        <p:spPr>
          <a:xfrm>
            <a:off x="3884613" y="11580813"/>
            <a:ext cx="2971800" cy="6111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9BC2883-8BCE-4F0B-888B-01BED94BE81D}" type="slidenum">
              <a:t>‹#›</a:t>
            </a:fld>
            <a:endParaRPr lang="sr-Latn-RS"/>
          </a:p>
        </p:txBody>
      </p:sp>
    </p:spTree>
    <p:extLst>
      <p:ext uri="{BB962C8B-B14F-4D97-AF65-F5344CB8AC3E}">
        <p14:creationId xmlns:p14="http://schemas.microsoft.com/office/powerpoint/2010/main" val="154250070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0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020"/>
          </a:solidFill>
          <a:ln w="12700">
            <a:solidFill>
              <a:srgbClr val="0B102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6720840"/>
            <a:ext cx="12191695" cy="137160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020"/>
          </a:solidFill>
          <a:ln w="12700">
            <a:solidFill>
              <a:srgbClr val="0B102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265875" y="1715022"/>
            <a:ext cx="74980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8FAFC"/>
                </a:solidFill>
              </a:rPr>
              <a:t>Credit Card Fraud Detection</a:t>
            </a:r>
            <a:endParaRPr lang="en-US" sz="3200" dirty="0"/>
          </a:p>
        </p:txBody>
      </p:sp>
      <p:sp>
        <p:nvSpPr>
          <p:cNvPr id="13" name="Text 11"/>
          <p:cNvSpPr/>
          <p:nvPr/>
        </p:nvSpPr>
        <p:spPr>
          <a:xfrm>
            <a:off x="2260697" y="2369590"/>
            <a:ext cx="7680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dirty="0" err="1">
                <a:solidFill>
                  <a:srgbClr val="CBD5E1"/>
                </a:solidFill>
              </a:rPr>
              <a:t>Primena</a:t>
            </a:r>
            <a:r>
              <a:rPr lang="en-US" dirty="0">
                <a:solidFill>
                  <a:srgbClr val="CBD5E1"/>
                </a:solidFill>
              </a:rPr>
              <a:t> </a:t>
            </a:r>
            <a:r>
              <a:rPr lang="en-US" dirty="0" err="1">
                <a:solidFill>
                  <a:srgbClr val="CBD5E1"/>
                </a:solidFill>
              </a:rPr>
              <a:t>neuronskih</a:t>
            </a:r>
            <a:r>
              <a:rPr lang="en-US" dirty="0">
                <a:solidFill>
                  <a:srgbClr val="CBD5E1"/>
                </a:solidFill>
              </a:rPr>
              <a:t> </a:t>
            </a:r>
            <a:r>
              <a:rPr lang="en-US" dirty="0" err="1">
                <a:solidFill>
                  <a:srgbClr val="CBD5E1"/>
                </a:solidFill>
              </a:rPr>
              <a:t>mreža</a:t>
            </a:r>
            <a:r>
              <a:rPr lang="en-US" dirty="0">
                <a:solidFill>
                  <a:srgbClr val="CBD5E1"/>
                </a:solidFill>
              </a:rPr>
              <a:t> za </a:t>
            </a:r>
            <a:r>
              <a:rPr lang="en-US" dirty="0" err="1">
                <a:solidFill>
                  <a:srgbClr val="CBD5E1"/>
                </a:solidFill>
              </a:rPr>
              <a:t>detekciju</a:t>
            </a:r>
            <a:r>
              <a:rPr lang="en-US" dirty="0">
                <a:solidFill>
                  <a:srgbClr val="CBD5E1"/>
                </a:solidFill>
              </a:rPr>
              <a:t> </a:t>
            </a:r>
            <a:r>
              <a:rPr lang="en-US" dirty="0" err="1">
                <a:solidFill>
                  <a:srgbClr val="CBD5E1"/>
                </a:solidFill>
              </a:rPr>
              <a:t>finansijskih</a:t>
            </a:r>
            <a:r>
              <a:rPr lang="en-US" dirty="0">
                <a:solidFill>
                  <a:srgbClr val="CBD5E1"/>
                </a:solidFill>
              </a:rPr>
              <a:t> </a:t>
            </a:r>
            <a:r>
              <a:rPr lang="en-US" dirty="0" err="1">
                <a:solidFill>
                  <a:srgbClr val="CBD5E1"/>
                </a:solidFill>
              </a:rPr>
              <a:t>prevara</a:t>
            </a:r>
            <a:endParaRPr lang="en-US" dirty="0" err="1"/>
          </a:p>
        </p:txBody>
      </p:sp>
      <p:sp>
        <p:nvSpPr>
          <p:cNvPr id="14" name="Text 12"/>
          <p:cNvSpPr/>
          <p:nvPr/>
        </p:nvSpPr>
        <p:spPr>
          <a:xfrm>
            <a:off x="702794" y="5166360"/>
            <a:ext cx="5029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600">
                <a:solidFill>
                  <a:srgbClr val="94A3B8"/>
                </a:solidFill>
              </a:rPr>
              <a:t>Jovan Teofilović 2022/0192</a:t>
            </a:r>
            <a:endParaRPr lang="en-US" sz="1600" dirty="0">
              <a:solidFill>
                <a:srgbClr val="94A3B8"/>
              </a:solidFill>
            </a:endParaRPr>
          </a:p>
          <a:p>
            <a:pPr marL="0" indent="0">
              <a:buNone/>
            </a:pPr>
            <a:r>
              <a:rPr lang="en-US" sz="1600" dirty="0" err="1">
                <a:solidFill>
                  <a:srgbClr val="94A3B8"/>
                </a:solidFill>
              </a:rPr>
              <a:t>Duboko</a:t>
            </a:r>
            <a:r>
              <a:rPr lang="en-US" sz="1600" dirty="0">
                <a:solidFill>
                  <a:srgbClr val="94A3B8"/>
                </a:solidFill>
              </a:rPr>
              <a:t> </a:t>
            </a:r>
            <a:r>
              <a:rPr lang="en-US" sz="1600" dirty="0" err="1">
                <a:solidFill>
                  <a:srgbClr val="94A3B8"/>
                </a:solidFill>
              </a:rPr>
              <a:t>učenje</a:t>
            </a:r>
            <a:r>
              <a:rPr lang="en-US" sz="1600" dirty="0">
                <a:solidFill>
                  <a:srgbClr val="94A3B8"/>
                </a:solidFill>
              </a:rPr>
              <a:t> </a:t>
            </a:r>
            <a:r>
              <a:rPr lang="en-US" sz="1600" dirty="0" err="1">
                <a:solidFill>
                  <a:srgbClr val="94A3B8"/>
                </a:solidFill>
              </a:rPr>
              <a:t>i</a:t>
            </a:r>
            <a:r>
              <a:rPr lang="en-US" sz="1600" dirty="0">
                <a:solidFill>
                  <a:srgbClr val="94A3B8"/>
                </a:solidFill>
              </a:rPr>
              <a:t> </a:t>
            </a:r>
            <a:r>
              <a:rPr lang="en-US" sz="1600" dirty="0" err="1">
                <a:solidFill>
                  <a:srgbClr val="94A3B8"/>
                </a:solidFill>
              </a:rPr>
              <a:t>neuronske</a:t>
            </a:r>
            <a:r>
              <a:rPr lang="en-US" sz="1600" dirty="0">
                <a:solidFill>
                  <a:srgbClr val="94A3B8"/>
                </a:solidFill>
              </a:rPr>
              <a:t> </a:t>
            </a:r>
            <a:r>
              <a:rPr lang="en-US" sz="1600" dirty="0" err="1">
                <a:solidFill>
                  <a:srgbClr val="94A3B8"/>
                </a:solidFill>
              </a:rPr>
              <a:t>mreže</a:t>
            </a:r>
            <a:endParaRPr lang="en-US" sz="1400" dirty="0" err="1"/>
          </a:p>
        </p:txBody>
      </p:sp>
      <p:sp>
        <p:nvSpPr>
          <p:cNvPr id="23" name="Text 21"/>
          <p:cNvSpPr/>
          <p:nvPr/>
        </p:nvSpPr>
        <p:spPr>
          <a:xfrm>
            <a:off x="11475720" y="6473952"/>
            <a:ext cx="4114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22D3EE"/>
                </a:solidFill>
              </a:rPr>
              <a:t>01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B10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020"/>
          </a:solidFill>
          <a:ln w="12700">
            <a:solidFill>
              <a:srgbClr val="0B102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6720840"/>
            <a:ext cx="12191695" cy="137160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502920"/>
            <a:ext cx="594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2D3EE"/>
                </a:solidFill>
              </a:rPr>
              <a:t>00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1115568" y="667512"/>
            <a:ext cx="411480" cy="0"/>
          </a:xfrm>
          <a:prstGeom prst="line">
            <a:avLst/>
          </a:prstGeom>
          <a:noFill/>
          <a:ln w="12700">
            <a:solidFill>
              <a:srgbClr val="33415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600200" y="448056"/>
            <a:ext cx="8961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F8FAFC"/>
                </a:solidFill>
              </a:rPr>
              <a:t>Struktura prezentacije</a:t>
            </a:r>
            <a:endParaRPr lang="en-US" sz="1900" dirty="0"/>
          </a:p>
        </p:txBody>
      </p:sp>
      <p:sp>
        <p:nvSpPr>
          <p:cNvPr id="8" name="Shape 6"/>
          <p:cNvSpPr/>
          <p:nvPr/>
        </p:nvSpPr>
        <p:spPr>
          <a:xfrm>
            <a:off x="685800" y="1325880"/>
            <a:ext cx="5074920" cy="822960"/>
          </a:xfrm>
          <a:prstGeom prst="roundRect">
            <a:avLst>
              <a:gd name="adj" fmla="val 8889"/>
            </a:avLst>
          </a:prstGeom>
          <a:solidFill>
            <a:srgbClr val="172033"/>
          </a:solidFill>
          <a:ln w="12700">
            <a:solidFill>
              <a:srgbClr val="334155">
                <a:alpha val="7500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50392" y="1499616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2D3EE"/>
                </a:solidFill>
              </a:rPr>
              <a:t>01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1417320" y="1463040"/>
            <a:ext cx="3840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 err="1">
                <a:solidFill>
                  <a:srgbClr val="F8FAFC"/>
                </a:solidFill>
              </a:rPr>
              <a:t>Opis</a:t>
            </a:r>
            <a:r>
              <a:rPr lang="en-US" sz="1600" b="1" dirty="0">
                <a:solidFill>
                  <a:srgbClr val="F8FAFC"/>
                </a:solidFill>
              </a:rPr>
              <a:t> </a:t>
            </a:r>
            <a:r>
              <a:rPr lang="en-US" sz="1600" b="1" dirty="0" err="1">
                <a:solidFill>
                  <a:srgbClr val="F8FAFC"/>
                </a:solidFill>
              </a:rPr>
              <a:t>problema</a:t>
            </a:r>
            <a:endParaRPr lang="en-US" sz="1600" dirty="0" err="1"/>
          </a:p>
        </p:txBody>
      </p:sp>
      <p:sp>
        <p:nvSpPr>
          <p:cNvPr id="11" name="Text 9"/>
          <p:cNvSpPr/>
          <p:nvPr/>
        </p:nvSpPr>
        <p:spPr>
          <a:xfrm>
            <a:off x="1417320" y="1773936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 err="1">
                <a:solidFill>
                  <a:srgbClr val="94A3B8"/>
                </a:solidFill>
              </a:rPr>
              <a:t>Disbalans</a:t>
            </a:r>
            <a:r>
              <a:rPr lang="en-US" sz="1200" dirty="0">
                <a:solidFill>
                  <a:srgbClr val="94A3B8"/>
                </a:solidFill>
              </a:rPr>
              <a:t> </a:t>
            </a:r>
            <a:r>
              <a:rPr lang="en-US" sz="1200" dirty="0" err="1">
                <a:solidFill>
                  <a:srgbClr val="94A3B8"/>
                </a:solidFill>
              </a:rPr>
              <a:t>klasa</a:t>
            </a:r>
            <a:r>
              <a:rPr lang="en-US" sz="1200" dirty="0">
                <a:solidFill>
                  <a:srgbClr val="94A3B8"/>
                </a:solidFill>
              </a:rPr>
              <a:t> </a:t>
            </a:r>
            <a:r>
              <a:rPr lang="en-US" sz="1200" dirty="0" err="1">
                <a:solidFill>
                  <a:srgbClr val="94A3B8"/>
                </a:solidFill>
              </a:rPr>
              <a:t>i</a:t>
            </a:r>
            <a:r>
              <a:rPr lang="en-US" sz="1200" dirty="0">
                <a:solidFill>
                  <a:srgbClr val="94A3B8"/>
                </a:solidFill>
              </a:rPr>
              <a:t> </a:t>
            </a:r>
            <a:r>
              <a:rPr lang="en-US" sz="1200" dirty="0" err="1">
                <a:solidFill>
                  <a:srgbClr val="94A3B8"/>
                </a:solidFill>
              </a:rPr>
              <a:t>poslovni</a:t>
            </a:r>
            <a:r>
              <a:rPr lang="en-US" sz="1200" dirty="0">
                <a:solidFill>
                  <a:srgbClr val="94A3B8"/>
                </a:solidFill>
              </a:rPr>
              <a:t> </a:t>
            </a:r>
            <a:r>
              <a:rPr lang="en-US" sz="1200" dirty="0" err="1">
                <a:solidFill>
                  <a:srgbClr val="94A3B8"/>
                </a:solidFill>
              </a:rPr>
              <a:t>cil</a:t>
            </a:r>
            <a:r>
              <a:rPr lang="en-US" sz="1100" dirty="0" err="1">
                <a:solidFill>
                  <a:srgbClr val="94A3B8"/>
                </a:solidFill>
              </a:rPr>
              <a:t>j</a:t>
            </a:r>
            <a:endParaRPr lang="en-US" sz="900" dirty="0" err="1"/>
          </a:p>
        </p:txBody>
      </p:sp>
      <p:sp>
        <p:nvSpPr>
          <p:cNvPr id="12" name="Shape 10"/>
          <p:cNvSpPr/>
          <p:nvPr/>
        </p:nvSpPr>
        <p:spPr>
          <a:xfrm>
            <a:off x="6217920" y="1325880"/>
            <a:ext cx="5074920" cy="822960"/>
          </a:xfrm>
          <a:prstGeom prst="roundRect">
            <a:avLst>
              <a:gd name="adj" fmla="val 8889"/>
            </a:avLst>
          </a:prstGeom>
          <a:solidFill>
            <a:srgbClr val="172033"/>
          </a:solidFill>
          <a:ln w="12700">
            <a:solidFill>
              <a:srgbClr val="334155">
                <a:alpha val="7500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382512" y="1499616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34D399"/>
                </a:solidFill>
              </a:rPr>
              <a:t>02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6949440" y="1463040"/>
            <a:ext cx="3840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 err="1">
                <a:solidFill>
                  <a:srgbClr val="F8FAFC"/>
                </a:solidFill>
              </a:rPr>
              <a:t>Podaci</a:t>
            </a:r>
            <a:r>
              <a:rPr lang="en-US" sz="1600" b="1" dirty="0">
                <a:solidFill>
                  <a:srgbClr val="F8FAFC"/>
                </a:solidFill>
              </a:rPr>
              <a:t> &amp; </a:t>
            </a:r>
            <a:r>
              <a:rPr lang="en-US" sz="1600" b="1" dirty="0" err="1">
                <a:solidFill>
                  <a:srgbClr val="F8FAFC"/>
                </a:solidFill>
              </a:rPr>
              <a:t>Preprocesiranje</a:t>
            </a:r>
            <a:endParaRPr lang="en-US" sz="1600" dirty="0" err="1"/>
          </a:p>
        </p:txBody>
      </p:sp>
      <p:sp>
        <p:nvSpPr>
          <p:cNvPr id="15" name="Text 13"/>
          <p:cNvSpPr/>
          <p:nvPr/>
        </p:nvSpPr>
        <p:spPr>
          <a:xfrm>
            <a:off x="6949440" y="1773936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4A3B8"/>
                </a:solidFill>
              </a:rPr>
              <a:t>Dataset, PCA </a:t>
            </a:r>
            <a:r>
              <a:rPr lang="en-US" sz="1200" dirty="0" err="1">
                <a:solidFill>
                  <a:srgbClr val="94A3B8"/>
                </a:solidFill>
              </a:rPr>
              <a:t>varijable</a:t>
            </a:r>
            <a:r>
              <a:rPr lang="en-US" sz="1200" dirty="0">
                <a:solidFill>
                  <a:srgbClr val="94A3B8"/>
                </a:solidFill>
              </a:rPr>
              <a:t>, </a:t>
            </a:r>
            <a:r>
              <a:rPr lang="en-US" sz="1200" dirty="0" err="1">
                <a:solidFill>
                  <a:srgbClr val="94A3B8"/>
                </a:solidFill>
              </a:rPr>
              <a:t>RobustScaler</a:t>
            </a:r>
            <a:endParaRPr lang="en-US" sz="1200" dirty="0" err="1"/>
          </a:p>
        </p:txBody>
      </p:sp>
      <p:sp>
        <p:nvSpPr>
          <p:cNvPr id="16" name="Shape 14"/>
          <p:cNvSpPr/>
          <p:nvPr/>
        </p:nvSpPr>
        <p:spPr>
          <a:xfrm>
            <a:off x="685800" y="2468880"/>
            <a:ext cx="5074920" cy="822960"/>
          </a:xfrm>
          <a:prstGeom prst="roundRect">
            <a:avLst>
              <a:gd name="adj" fmla="val 8889"/>
            </a:avLst>
          </a:prstGeom>
          <a:solidFill>
            <a:srgbClr val="172033"/>
          </a:solidFill>
          <a:ln w="12700">
            <a:solidFill>
              <a:srgbClr val="334155">
                <a:alpha val="7500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50392" y="2642616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A78BFA"/>
                </a:solidFill>
              </a:rPr>
              <a:t>03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1417320" y="2606040"/>
            <a:ext cx="3840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 err="1">
                <a:solidFill>
                  <a:srgbClr val="F8FAFC"/>
                </a:solidFill>
              </a:rPr>
              <a:t>Arhitektura</a:t>
            </a:r>
            <a:r>
              <a:rPr lang="en-US" sz="1600" b="1" dirty="0">
                <a:solidFill>
                  <a:srgbClr val="F8FAFC"/>
                </a:solidFill>
              </a:rPr>
              <a:t> </a:t>
            </a:r>
            <a:r>
              <a:rPr lang="en-US" sz="1600" b="1" dirty="0" err="1">
                <a:solidFill>
                  <a:srgbClr val="F8FAFC"/>
                </a:solidFill>
              </a:rPr>
              <a:t>modela</a:t>
            </a:r>
            <a:endParaRPr lang="en-US" sz="1600" dirty="0" err="1"/>
          </a:p>
        </p:txBody>
      </p:sp>
      <p:sp>
        <p:nvSpPr>
          <p:cNvPr id="19" name="Text 17"/>
          <p:cNvSpPr/>
          <p:nvPr/>
        </p:nvSpPr>
        <p:spPr>
          <a:xfrm>
            <a:off x="1417320" y="2916936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4A3B8"/>
                </a:solidFill>
              </a:rPr>
              <a:t>MLP + Autoencoder anomaly detection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6217920" y="2468880"/>
            <a:ext cx="5074920" cy="822960"/>
          </a:xfrm>
          <a:prstGeom prst="roundRect">
            <a:avLst>
              <a:gd name="adj" fmla="val 8889"/>
            </a:avLst>
          </a:prstGeom>
          <a:solidFill>
            <a:srgbClr val="172033"/>
          </a:solidFill>
          <a:ln w="12700">
            <a:solidFill>
              <a:srgbClr val="334155">
                <a:alpha val="75000"/>
              </a:srgbClr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382512" y="2642616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BBF24"/>
                </a:solidFill>
              </a:rPr>
              <a:t>04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6949440" y="2606040"/>
            <a:ext cx="3840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 err="1">
                <a:solidFill>
                  <a:srgbClr val="F8FAFC"/>
                </a:solidFill>
              </a:rPr>
              <a:t>Eksperimentalne</a:t>
            </a:r>
            <a:r>
              <a:rPr lang="en-US" sz="1600" b="1" dirty="0">
                <a:solidFill>
                  <a:srgbClr val="F8FAFC"/>
                </a:solidFill>
              </a:rPr>
              <a:t> </a:t>
            </a:r>
            <a:r>
              <a:rPr lang="en-US" sz="1600" b="1" dirty="0" err="1">
                <a:solidFill>
                  <a:srgbClr val="F8FAFC"/>
                </a:solidFill>
              </a:rPr>
              <a:t>konfiguracije</a:t>
            </a:r>
            <a:endParaRPr lang="en-US" sz="1600" dirty="0" err="1"/>
          </a:p>
        </p:txBody>
      </p:sp>
      <p:sp>
        <p:nvSpPr>
          <p:cNvPr id="23" name="Text 21"/>
          <p:cNvSpPr/>
          <p:nvPr/>
        </p:nvSpPr>
        <p:spPr>
          <a:xfrm>
            <a:off x="6949440" y="2916936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4A3B8"/>
                </a:solidFill>
              </a:rPr>
              <a:t>Baseline, MLP </a:t>
            </a:r>
            <a:r>
              <a:rPr lang="en-US" sz="1200" dirty="0" err="1">
                <a:solidFill>
                  <a:srgbClr val="94A3B8"/>
                </a:solidFill>
              </a:rPr>
              <a:t>varijante</a:t>
            </a:r>
            <a:r>
              <a:rPr lang="en-US" sz="1200" dirty="0">
                <a:solidFill>
                  <a:srgbClr val="94A3B8"/>
                </a:solidFill>
              </a:rPr>
              <a:t>, Autoencoder</a:t>
            </a:r>
          </a:p>
        </p:txBody>
      </p:sp>
      <p:sp>
        <p:nvSpPr>
          <p:cNvPr id="24" name="Shape 22"/>
          <p:cNvSpPr/>
          <p:nvPr/>
        </p:nvSpPr>
        <p:spPr>
          <a:xfrm>
            <a:off x="685800" y="3611880"/>
            <a:ext cx="5074920" cy="822960"/>
          </a:xfrm>
          <a:prstGeom prst="roundRect">
            <a:avLst>
              <a:gd name="adj" fmla="val 8889"/>
            </a:avLst>
          </a:prstGeom>
          <a:solidFill>
            <a:srgbClr val="172033"/>
          </a:solidFill>
          <a:ln w="12700">
            <a:solidFill>
              <a:srgbClr val="334155">
                <a:alpha val="75000"/>
              </a:srgbClr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850392" y="3785616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2D3EE"/>
                </a:solidFill>
              </a:rPr>
              <a:t>05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1417320" y="3749040"/>
            <a:ext cx="3840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 err="1">
                <a:solidFill>
                  <a:srgbClr val="F8FAFC"/>
                </a:solidFill>
              </a:rPr>
              <a:t>Evaluacija</a:t>
            </a:r>
            <a:r>
              <a:rPr lang="en-US" sz="1600" b="1" dirty="0">
                <a:solidFill>
                  <a:srgbClr val="F8FAFC"/>
                </a:solidFill>
              </a:rPr>
              <a:t> &amp; </a:t>
            </a:r>
            <a:r>
              <a:rPr lang="en-US" sz="1600" b="1" dirty="0" err="1">
                <a:solidFill>
                  <a:srgbClr val="F8FAFC"/>
                </a:solidFill>
              </a:rPr>
              <a:t>Rezultati</a:t>
            </a:r>
            <a:endParaRPr lang="en-US" sz="1600" dirty="0" err="1"/>
          </a:p>
        </p:txBody>
      </p:sp>
      <p:sp>
        <p:nvSpPr>
          <p:cNvPr id="27" name="Text 25"/>
          <p:cNvSpPr/>
          <p:nvPr/>
        </p:nvSpPr>
        <p:spPr>
          <a:xfrm>
            <a:off x="1417320" y="4059936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4A3B8"/>
                </a:solidFill>
              </a:rPr>
              <a:t>Precision, Recall, F1, PR-AUC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6217920" y="3611880"/>
            <a:ext cx="5074920" cy="822960"/>
          </a:xfrm>
          <a:prstGeom prst="roundRect">
            <a:avLst>
              <a:gd name="adj" fmla="val 8889"/>
            </a:avLst>
          </a:prstGeom>
          <a:solidFill>
            <a:srgbClr val="172033"/>
          </a:solidFill>
          <a:ln w="12700">
            <a:solidFill>
              <a:srgbClr val="334155">
                <a:alpha val="75000"/>
              </a:srgbClr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382512" y="3785616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34D399"/>
                </a:solidFill>
              </a:rPr>
              <a:t>06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6949440" y="3749040"/>
            <a:ext cx="3840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8FAFC"/>
                </a:solidFill>
              </a:rPr>
              <a:t>Threshold &amp; </a:t>
            </a:r>
            <a:r>
              <a:rPr lang="en-US" sz="1600" b="1" dirty="0" err="1">
                <a:solidFill>
                  <a:srgbClr val="F8FAFC"/>
                </a:solidFill>
              </a:rPr>
              <a:t>Osetljivost</a:t>
            </a:r>
            <a:endParaRPr lang="en-US" sz="1600" dirty="0" err="1"/>
          </a:p>
        </p:txBody>
      </p:sp>
      <p:sp>
        <p:nvSpPr>
          <p:cNvPr id="31" name="Text 29"/>
          <p:cNvSpPr/>
          <p:nvPr/>
        </p:nvSpPr>
        <p:spPr>
          <a:xfrm>
            <a:off x="6949440" y="4059936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 err="1">
                <a:solidFill>
                  <a:srgbClr val="94A3B8"/>
                </a:solidFill>
              </a:rPr>
              <a:t>Optimizacija</a:t>
            </a:r>
            <a:r>
              <a:rPr lang="en-US" sz="1200" dirty="0">
                <a:solidFill>
                  <a:srgbClr val="94A3B8"/>
                </a:solidFill>
              </a:rPr>
              <a:t> </a:t>
            </a:r>
            <a:r>
              <a:rPr lang="en-US" sz="1200" dirty="0" err="1">
                <a:solidFill>
                  <a:srgbClr val="94A3B8"/>
                </a:solidFill>
              </a:rPr>
              <a:t>praga</a:t>
            </a:r>
            <a:r>
              <a:rPr lang="en-US" sz="1200" dirty="0">
                <a:solidFill>
                  <a:srgbClr val="94A3B8"/>
                </a:solidFill>
              </a:rPr>
              <a:t> </a:t>
            </a:r>
            <a:r>
              <a:rPr lang="en-US" sz="1200" dirty="0" err="1">
                <a:solidFill>
                  <a:srgbClr val="94A3B8"/>
                </a:solidFill>
              </a:rPr>
              <a:t>i</a:t>
            </a:r>
            <a:r>
              <a:rPr lang="en-US" sz="1200" dirty="0">
                <a:solidFill>
                  <a:srgbClr val="94A3B8"/>
                </a:solidFill>
              </a:rPr>
              <a:t> permutation importance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685800" y="4754880"/>
            <a:ext cx="5074920" cy="822960"/>
          </a:xfrm>
          <a:prstGeom prst="roundRect">
            <a:avLst>
              <a:gd name="adj" fmla="val 8889"/>
            </a:avLst>
          </a:prstGeom>
          <a:solidFill>
            <a:srgbClr val="172033"/>
          </a:solidFill>
          <a:ln w="12700">
            <a:solidFill>
              <a:srgbClr val="334155">
                <a:alpha val="75000"/>
              </a:srgbClr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850392" y="4928616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A78BFA"/>
                </a:solidFill>
              </a:rPr>
              <a:t>07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1417320" y="4892040"/>
            <a:ext cx="3840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 err="1">
                <a:solidFill>
                  <a:srgbClr val="F8FAFC"/>
                </a:solidFill>
              </a:rPr>
              <a:t>Diskusija</a:t>
            </a:r>
            <a:endParaRPr lang="en-US" sz="1600" dirty="0" err="1"/>
          </a:p>
        </p:txBody>
      </p:sp>
      <p:sp>
        <p:nvSpPr>
          <p:cNvPr id="35" name="Text 33"/>
          <p:cNvSpPr/>
          <p:nvPr/>
        </p:nvSpPr>
        <p:spPr>
          <a:xfrm>
            <a:off x="1417320" y="5202936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4A3B8"/>
                </a:solidFill>
              </a:rPr>
              <a:t>Trade-off </a:t>
            </a:r>
            <a:r>
              <a:rPr lang="en-US" sz="1200" dirty="0" err="1">
                <a:solidFill>
                  <a:srgbClr val="94A3B8"/>
                </a:solidFill>
              </a:rPr>
              <a:t>između</a:t>
            </a:r>
            <a:r>
              <a:rPr lang="en-US" sz="1200" dirty="0">
                <a:solidFill>
                  <a:srgbClr val="94A3B8"/>
                </a:solidFill>
              </a:rPr>
              <a:t> </a:t>
            </a:r>
            <a:r>
              <a:rPr lang="en-US" sz="1200" dirty="0" err="1">
                <a:solidFill>
                  <a:srgbClr val="94A3B8"/>
                </a:solidFill>
              </a:rPr>
              <a:t>propuštenih</a:t>
            </a:r>
            <a:r>
              <a:rPr lang="en-US" sz="1200" dirty="0">
                <a:solidFill>
                  <a:srgbClr val="94A3B8"/>
                </a:solidFill>
              </a:rPr>
              <a:t> </a:t>
            </a:r>
            <a:r>
              <a:rPr lang="en-US" sz="1200" dirty="0" err="1">
                <a:solidFill>
                  <a:srgbClr val="94A3B8"/>
                </a:solidFill>
              </a:rPr>
              <a:t>prevara</a:t>
            </a:r>
            <a:r>
              <a:rPr lang="en-US" sz="1200" dirty="0">
                <a:solidFill>
                  <a:srgbClr val="94A3B8"/>
                </a:solidFill>
              </a:rPr>
              <a:t> </a:t>
            </a:r>
            <a:r>
              <a:rPr lang="en-US" sz="1200" dirty="0" err="1">
                <a:solidFill>
                  <a:srgbClr val="94A3B8"/>
                </a:solidFill>
              </a:rPr>
              <a:t>i</a:t>
            </a:r>
            <a:r>
              <a:rPr lang="en-US" sz="1200" dirty="0">
                <a:solidFill>
                  <a:srgbClr val="94A3B8"/>
                </a:solidFill>
              </a:rPr>
              <a:t> </a:t>
            </a:r>
            <a:r>
              <a:rPr lang="en-US" sz="1200" dirty="0" err="1">
                <a:solidFill>
                  <a:srgbClr val="94A3B8"/>
                </a:solidFill>
              </a:rPr>
              <a:t>lažnih</a:t>
            </a:r>
            <a:r>
              <a:rPr lang="en-US" sz="1200" dirty="0">
                <a:solidFill>
                  <a:srgbClr val="94A3B8"/>
                </a:solidFill>
              </a:rPr>
              <a:t> </a:t>
            </a:r>
            <a:r>
              <a:rPr lang="en-US" sz="1200" dirty="0" err="1">
                <a:solidFill>
                  <a:srgbClr val="94A3B8"/>
                </a:solidFill>
              </a:rPr>
              <a:t>uzbuna</a:t>
            </a:r>
            <a:endParaRPr lang="en-US" sz="1200" dirty="0"/>
          </a:p>
        </p:txBody>
      </p:sp>
      <p:sp>
        <p:nvSpPr>
          <p:cNvPr id="36" name="Shape 34"/>
          <p:cNvSpPr/>
          <p:nvPr/>
        </p:nvSpPr>
        <p:spPr>
          <a:xfrm>
            <a:off x="6217920" y="4754880"/>
            <a:ext cx="5074920" cy="822960"/>
          </a:xfrm>
          <a:prstGeom prst="roundRect">
            <a:avLst>
              <a:gd name="adj" fmla="val 8889"/>
            </a:avLst>
          </a:prstGeom>
          <a:solidFill>
            <a:srgbClr val="172033"/>
          </a:solidFill>
          <a:ln w="12700">
            <a:solidFill>
              <a:srgbClr val="334155">
                <a:alpha val="75000"/>
              </a:srgbClr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382512" y="4928616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BBF24"/>
                </a:solidFill>
              </a:rPr>
              <a:t>08</a:t>
            </a:r>
            <a:endParaRPr lang="en-US" sz="1200" dirty="0"/>
          </a:p>
        </p:txBody>
      </p:sp>
      <p:sp>
        <p:nvSpPr>
          <p:cNvPr id="38" name="Text 36"/>
          <p:cNvSpPr/>
          <p:nvPr/>
        </p:nvSpPr>
        <p:spPr>
          <a:xfrm>
            <a:off x="6949440" y="4892040"/>
            <a:ext cx="3840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 err="1">
                <a:solidFill>
                  <a:srgbClr val="F8FAFC"/>
                </a:solidFill>
              </a:rPr>
              <a:t>Zaključak</a:t>
            </a:r>
            <a:endParaRPr lang="en-US" sz="1600" dirty="0" err="1"/>
          </a:p>
        </p:txBody>
      </p:sp>
      <p:sp>
        <p:nvSpPr>
          <p:cNvPr id="39" name="Text 37"/>
          <p:cNvSpPr/>
          <p:nvPr/>
        </p:nvSpPr>
        <p:spPr>
          <a:xfrm>
            <a:off x="6949440" y="5202936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 err="1">
                <a:solidFill>
                  <a:srgbClr val="94A3B8"/>
                </a:solidFill>
              </a:rPr>
              <a:t>Najbitnije</a:t>
            </a:r>
            <a:r>
              <a:rPr lang="en-US" sz="1200" dirty="0">
                <a:solidFill>
                  <a:srgbClr val="94A3B8"/>
                </a:solidFill>
              </a:rPr>
              <a:t> </a:t>
            </a:r>
            <a:r>
              <a:rPr lang="en-US" sz="1200" dirty="0" err="1">
                <a:solidFill>
                  <a:srgbClr val="94A3B8"/>
                </a:solidFill>
              </a:rPr>
              <a:t>lekcije</a:t>
            </a:r>
            <a:r>
              <a:rPr lang="en-US" sz="1200" dirty="0">
                <a:solidFill>
                  <a:srgbClr val="94A3B8"/>
                </a:solidFill>
              </a:rPr>
              <a:t> </a:t>
            </a:r>
            <a:r>
              <a:rPr lang="en-US" sz="1200" dirty="0" err="1">
                <a:solidFill>
                  <a:srgbClr val="94A3B8"/>
                </a:solidFill>
              </a:rPr>
              <a:t>iz</a:t>
            </a:r>
            <a:r>
              <a:rPr lang="en-US" sz="1200" dirty="0">
                <a:solidFill>
                  <a:srgbClr val="94A3B8"/>
                </a:solidFill>
              </a:rPr>
              <a:t> </a:t>
            </a:r>
            <a:r>
              <a:rPr lang="en-US" sz="1200" dirty="0" err="1">
                <a:solidFill>
                  <a:srgbClr val="94A3B8"/>
                </a:solidFill>
              </a:rPr>
              <a:t>projekta</a:t>
            </a:r>
            <a:endParaRPr lang="en-US" sz="1200" dirty="0"/>
          </a:p>
        </p:txBody>
      </p:sp>
      <p:sp>
        <p:nvSpPr>
          <p:cNvPr id="41" name="Text 39"/>
          <p:cNvSpPr/>
          <p:nvPr/>
        </p:nvSpPr>
        <p:spPr>
          <a:xfrm>
            <a:off x="11475720" y="6473952"/>
            <a:ext cx="4114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22D3EE"/>
                </a:solidFill>
              </a:rPr>
              <a:t>02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B10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020"/>
          </a:solidFill>
          <a:ln w="12700">
            <a:solidFill>
              <a:srgbClr val="0B102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6720840"/>
            <a:ext cx="12191695" cy="137160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502920"/>
            <a:ext cx="594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2D3EE"/>
                </a:solidFill>
              </a:rPr>
              <a:t>01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1115568" y="667512"/>
            <a:ext cx="411480" cy="0"/>
          </a:xfrm>
          <a:prstGeom prst="line">
            <a:avLst/>
          </a:prstGeom>
          <a:noFill/>
          <a:ln w="12700">
            <a:solidFill>
              <a:srgbClr val="33415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600200" y="448056"/>
            <a:ext cx="8961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F8FAFC"/>
                </a:solidFill>
              </a:rPr>
              <a:t>Opis problema</a:t>
            </a:r>
            <a:endParaRPr lang="en-US" sz="1900" dirty="0"/>
          </a:p>
        </p:txBody>
      </p:sp>
      <p:sp>
        <p:nvSpPr>
          <p:cNvPr id="9" name="Shape 7"/>
          <p:cNvSpPr/>
          <p:nvPr/>
        </p:nvSpPr>
        <p:spPr>
          <a:xfrm>
            <a:off x="777240" y="1325880"/>
            <a:ext cx="1828800" cy="960120"/>
          </a:xfrm>
          <a:prstGeom prst="roundRect">
            <a:avLst>
              <a:gd name="adj" fmla="val 9524"/>
            </a:avLst>
          </a:prstGeom>
          <a:solidFill>
            <a:srgbClr val="172033"/>
          </a:solidFill>
          <a:ln w="12700">
            <a:solidFill>
              <a:srgbClr val="334155">
                <a:alpha val="7500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86968" y="1463040"/>
            <a:ext cx="160934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B7185"/>
                </a:solidFill>
              </a:rPr>
              <a:t>0.17%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896112" y="1892808"/>
            <a:ext cx="15910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 err="1">
                <a:solidFill>
                  <a:srgbClr val="94A3B8"/>
                </a:solidFill>
              </a:rPr>
              <a:t>prevara</a:t>
            </a:r>
            <a:r>
              <a:rPr lang="en-US" sz="1200" dirty="0">
                <a:solidFill>
                  <a:srgbClr val="94A3B8"/>
                </a:solidFill>
              </a:rPr>
              <a:t> u </a:t>
            </a:r>
            <a:r>
              <a:rPr lang="en-US" sz="1200" dirty="0" err="1">
                <a:solidFill>
                  <a:srgbClr val="94A3B8"/>
                </a:solidFill>
              </a:rPr>
              <a:t>skupu</a:t>
            </a:r>
            <a:endParaRPr lang="en-US" sz="1050" dirty="0" err="1"/>
          </a:p>
        </p:txBody>
      </p:sp>
      <p:sp>
        <p:nvSpPr>
          <p:cNvPr id="12" name="Shape 10"/>
          <p:cNvSpPr/>
          <p:nvPr/>
        </p:nvSpPr>
        <p:spPr>
          <a:xfrm>
            <a:off x="2788920" y="1325880"/>
            <a:ext cx="1828800" cy="960120"/>
          </a:xfrm>
          <a:prstGeom prst="roundRect">
            <a:avLst>
              <a:gd name="adj" fmla="val 9524"/>
            </a:avLst>
          </a:prstGeom>
          <a:solidFill>
            <a:srgbClr val="172033"/>
          </a:solidFill>
          <a:ln w="12700">
            <a:solidFill>
              <a:srgbClr val="334155">
                <a:alpha val="7500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898648" y="1463040"/>
            <a:ext cx="160934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BBF24"/>
                </a:solidFill>
              </a:rPr>
              <a:t>492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2907792" y="1892808"/>
            <a:ext cx="15910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 err="1">
                <a:solidFill>
                  <a:srgbClr val="94A3B8"/>
                </a:solidFill>
              </a:rPr>
              <a:t>prevarantske</a:t>
            </a:r>
            <a:r>
              <a:rPr lang="en-US" sz="1200" dirty="0">
                <a:solidFill>
                  <a:srgbClr val="94A3B8"/>
                </a:solidFill>
              </a:rPr>
              <a:t> </a:t>
            </a:r>
            <a:r>
              <a:rPr lang="en-US" sz="1200" dirty="0" err="1">
                <a:solidFill>
                  <a:srgbClr val="94A3B8"/>
                </a:solidFill>
              </a:rPr>
              <a:t>transakcije</a:t>
            </a:r>
            <a:endParaRPr lang="en-US" sz="1200" dirty="0" err="1"/>
          </a:p>
        </p:txBody>
      </p:sp>
      <p:sp>
        <p:nvSpPr>
          <p:cNvPr id="15" name="Shape 13"/>
          <p:cNvSpPr/>
          <p:nvPr/>
        </p:nvSpPr>
        <p:spPr>
          <a:xfrm>
            <a:off x="4800600" y="1325880"/>
            <a:ext cx="1828800" cy="960120"/>
          </a:xfrm>
          <a:prstGeom prst="roundRect">
            <a:avLst>
              <a:gd name="adj" fmla="val 9524"/>
            </a:avLst>
          </a:prstGeom>
          <a:solidFill>
            <a:srgbClr val="172033"/>
          </a:solidFill>
          <a:ln w="12700">
            <a:solidFill>
              <a:srgbClr val="334155">
                <a:alpha val="7500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910328" y="1463040"/>
            <a:ext cx="160934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22D3EE"/>
                </a:solidFill>
              </a:rPr>
              <a:t>284.807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4919472" y="1892808"/>
            <a:ext cx="15910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 err="1">
                <a:solidFill>
                  <a:srgbClr val="94A3B8"/>
                </a:solidFill>
              </a:rPr>
              <a:t>ukupno</a:t>
            </a:r>
            <a:r>
              <a:rPr lang="en-US" sz="1200" dirty="0">
                <a:solidFill>
                  <a:srgbClr val="94A3B8"/>
                </a:solidFill>
              </a:rPr>
              <a:t> </a:t>
            </a:r>
            <a:r>
              <a:rPr lang="en-US" sz="1200" dirty="0" err="1">
                <a:solidFill>
                  <a:srgbClr val="94A3B8"/>
                </a:solidFill>
              </a:rPr>
              <a:t>transakcija</a:t>
            </a:r>
            <a:endParaRPr lang="en-US" sz="1100" dirty="0" err="1"/>
          </a:p>
        </p:txBody>
      </p:sp>
      <p:sp>
        <p:nvSpPr>
          <p:cNvPr id="18" name="Shape 16"/>
          <p:cNvSpPr/>
          <p:nvPr/>
        </p:nvSpPr>
        <p:spPr>
          <a:xfrm>
            <a:off x="777240" y="2606040"/>
            <a:ext cx="3383280" cy="1325880"/>
          </a:xfrm>
          <a:prstGeom prst="roundRect">
            <a:avLst>
              <a:gd name="adj" fmla="val 8276"/>
            </a:avLst>
          </a:prstGeom>
          <a:solidFill>
            <a:srgbClr val="172033"/>
          </a:solidFill>
          <a:ln w="12700">
            <a:solidFill>
              <a:srgbClr val="334155">
                <a:alpha val="8000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777240" y="2606040"/>
            <a:ext cx="54864" cy="1325880"/>
          </a:xfrm>
          <a:prstGeom prst="rect">
            <a:avLst/>
          </a:prstGeom>
          <a:solidFill>
            <a:srgbClr val="FB7185"/>
          </a:solidFill>
          <a:ln w="12700">
            <a:solidFill>
              <a:srgbClr val="FB7185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978408" y="2770632"/>
            <a:ext cx="303580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 err="1">
                <a:solidFill>
                  <a:srgbClr val="F8FAFC"/>
                </a:solidFill>
              </a:rPr>
              <a:t>Ekstreman</a:t>
            </a:r>
            <a:r>
              <a:rPr lang="en-US" sz="1600" b="1" dirty="0">
                <a:solidFill>
                  <a:srgbClr val="F8FAFC"/>
                </a:solidFill>
              </a:rPr>
              <a:t> </a:t>
            </a:r>
            <a:r>
              <a:rPr lang="en-US" sz="1600" b="1" dirty="0" err="1">
                <a:solidFill>
                  <a:srgbClr val="F8FAFC"/>
                </a:solidFill>
              </a:rPr>
              <a:t>disbalans</a:t>
            </a:r>
            <a:endParaRPr lang="en-US" sz="1600" dirty="0" err="1"/>
          </a:p>
        </p:txBody>
      </p:sp>
      <p:sp>
        <p:nvSpPr>
          <p:cNvPr id="21" name="Text 19"/>
          <p:cNvSpPr/>
          <p:nvPr/>
        </p:nvSpPr>
        <p:spPr>
          <a:xfrm>
            <a:off x="978408" y="3108960"/>
            <a:ext cx="3035808" cy="6858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200" dirty="0" err="1">
                <a:solidFill>
                  <a:srgbClr val="CBD5E1"/>
                </a:solidFill>
              </a:rPr>
              <a:t>Regularnih</a:t>
            </a:r>
            <a:r>
              <a:rPr lang="en-US" sz="1200" dirty="0">
                <a:solidFill>
                  <a:srgbClr val="CBD5E1"/>
                </a:solidFill>
              </a:rPr>
              <a:t> </a:t>
            </a:r>
            <a:r>
              <a:rPr lang="en-US" sz="1200" dirty="0" err="1">
                <a:solidFill>
                  <a:srgbClr val="CBD5E1"/>
                </a:solidFill>
              </a:rPr>
              <a:t>transakcija</a:t>
            </a:r>
            <a:r>
              <a:rPr lang="en-US" sz="1200" dirty="0">
                <a:solidFill>
                  <a:srgbClr val="CBD5E1"/>
                </a:solidFill>
              </a:rPr>
              <a:t> </a:t>
            </a:r>
            <a:r>
              <a:rPr lang="en-US" sz="1200" dirty="0" err="1">
                <a:solidFill>
                  <a:srgbClr val="CBD5E1"/>
                </a:solidFill>
              </a:rPr>
              <a:t>ima</a:t>
            </a:r>
            <a:r>
              <a:rPr lang="en-US" sz="1200" dirty="0">
                <a:solidFill>
                  <a:srgbClr val="CBD5E1"/>
                </a:solidFill>
              </a:rPr>
              <a:t> </a:t>
            </a:r>
            <a:r>
              <a:rPr lang="en-US" sz="1200" dirty="0" err="1">
                <a:solidFill>
                  <a:srgbClr val="CBD5E1"/>
                </a:solidFill>
              </a:rPr>
              <a:t>mnogo</a:t>
            </a:r>
            <a:r>
              <a:rPr lang="en-US" sz="1200" dirty="0">
                <a:solidFill>
                  <a:srgbClr val="CBD5E1"/>
                </a:solidFill>
              </a:rPr>
              <a:t> </a:t>
            </a:r>
            <a:r>
              <a:rPr lang="en-US" sz="1200" dirty="0" err="1">
                <a:solidFill>
                  <a:srgbClr val="CBD5E1"/>
                </a:solidFill>
              </a:rPr>
              <a:t>više</a:t>
            </a:r>
            <a:r>
              <a:rPr lang="en-US" sz="1200" dirty="0">
                <a:solidFill>
                  <a:srgbClr val="CBD5E1"/>
                </a:solidFill>
              </a:rPr>
              <a:t> od </a:t>
            </a:r>
            <a:r>
              <a:rPr lang="en-US" sz="1200" dirty="0" err="1">
                <a:solidFill>
                  <a:srgbClr val="CBD5E1"/>
                </a:solidFill>
              </a:rPr>
              <a:t>prevara</a:t>
            </a:r>
            <a:r>
              <a:rPr lang="en-US" sz="1200" dirty="0">
                <a:solidFill>
                  <a:srgbClr val="CBD5E1"/>
                </a:solidFill>
              </a:rPr>
              <a:t>. Model </a:t>
            </a:r>
            <a:r>
              <a:rPr lang="en-US" sz="1200" dirty="0" err="1">
                <a:solidFill>
                  <a:srgbClr val="CBD5E1"/>
                </a:solidFill>
              </a:rPr>
              <a:t>može</a:t>
            </a:r>
            <a:r>
              <a:rPr lang="en-US" sz="1200" dirty="0">
                <a:solidFill>
                  <a:srgbClr val="CBD5E1"/>
                </a:solidFill>
              </a:rPr>
              <a:t> </a:t>
            </a:r>
            <a:r>
              <a:rPr lang="en-US" sz="1200" dirty="0" err="1">
                <a:solidFill>
                  <a:srgbClr val="CBD5E1"/>
                </a:solidFill>
              </a:rPr>
              <a:t>postići</a:t>
            </a:r>
            <a:r>
              <a:rPr lang="en-US" sz="1200" dirty="0">
                <a:solidFill>
                  <a:srgbClr val="CBD5E1"/>
                </a:solidFill>
              </a:rPr>
              <a:t> </a:t>
            </a:r>
            <a:r>
              <a:rPr lang="en-US" sz="1200" dirty="0" err="1">
                <a:solidFill>
                  <a:srgbClr val="CBD5E1"/>
                </a:solidFill>
              </a:rPr>
              <a:t>veoma</a:t>
            </a:r>
            <a:r>
              <a:rPr lang="en-US" sz="1200" dirty="0">
                <a:solidFill>
                  <a:srgbClr val="CBD5E1"/>
                </a:solidFill>
              </a:rPr>
              <a:t> </a:t>
            </a:r>
            <a:r>
              <a:rPr lang="en-US" sz="1200" dirty="0" err="1">
                <a:solidFill>
                  <a:srgbClr val="CBD5E1"/>
                </a:solidFill>
              </a:rPr>
              <a:t>visoku</a:t>
            </a:r>
            <a:r>
              <a:rPr lang="en-US" sz="1200" dirty="0">
                <a:solidFill>
                  <a:srgbClr val="CBD5E1"/>
                </a:solidFill>
              </a:rPr>
              <a:t> accuracy </a:t>
            </a:r>
            <a:r>
              <a:rPr lang="en-US" sz="1200" dirty="0" err="1">
                <a:solidFill>
                  <a:srgbClr val="CBD5E1"/>
                </a:solidFill>
              </a:rPr>
              <a:t>ako</a:t>
            </a:r>
            <a:r>
              <a:rPr lang="en-US" sz="1200" dirty="0">
                <a:solidFill>
                  <a:srgbClr val="CBD5E1"/>
                </a:solidFill>
              </a:rPr>
              <a:t> </a:t>
            </a:r>
            <a:r>
              <a:rPr lang="en-US" sz="1200" dirty="0" err="1">
                <a:solidFill>
                  <a:srgbClr val="CBD5E1"/>
                </a:solidFill>
              </a:rPr>
              <a:t>sve</a:t>
            </a:r>
            <a:r>
              <a:rPr lang="en-US" sz="1200" dirty="0">
                <a:solidFill>
                  <a:srgbClr val="CBD5E1"/>
                </a:solidFill>
              </a:rPr>
              <a:t> </a:t>
            </a:r>
            <a:r>
              <a:rPr lang="en-US" sz="1200" dirty="0" err="1">
                <a:solidFill>
                  <a:srgbClr val="CBD5E1"/>
                </a:solidFill>
              </a:rPr>
              <a:t>označi</a:t>
            </a:r>
            <a:r>
              <a:rPr lang="en-US" sz="1200" dirty="0">
                <a:solidFill>
                  <a:srgbClr val="CBD5E1"/>
                </a:solidFill>
              </a:rPr>
              <a:t> </a:t>
            </a:r>
            <a:r>
              <a:rPr lang="en-US" sz="1200" dirty="0" err="1">
                <a:solidFill>
                  <a:srgbClr val="CBD5E1"/>
                </a:solidFill>
              </a:rPr>
              <a:t>kao</a:t>
            </a:r>
            <a:r>
              <a:rPr lang="en-US" sz="1200" dirty="0">
                <a:solidFill>
                  <a:srgbClr val="CBD5E1"/>
                </a:solidFill>
              </a:rPr>
              <a:t> </a:t>
            </a:r>
            <a:r>
              <a:rPr lang="en-US" sz="1200" dirty="0" err="1">
                <a:solidFill>
                  <a:srgbClr val="CBD5E1"/>
                </a:solidFill>
              </a:rPr>
              <a:t>regularno</a:t>
            </a:r>
            <a:r>
              <a:rPr lang="en-US" sz="1200" dirty="0">
                <a:solidFill>
                  <a:srgbClr val="CBD5E1"/>
                </a:solidFill>
              </a:rPr>
              <a:t>.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4389120" y="2606040"/>
            <a:ext cx="3383280" cy="1325880"/>
          </a:xfrm>
          <a:prstGeom prst="roundRect">
            <a:avLst>
              <a:gd name="adj" fmla="val 8276"/>
            </a:avLst>
          </a:prstGeom>
          <a:solidFill>
            <a:srgbClr val="172033"/>
          </a:solidFill>
          <a:ln w="12700">
            <a:solidFill>
              <a:srgbClr val="334155">
                <a:alpha val="8000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389120" y="2606040"/>
            <a:ext cx="54864" cy="1325880"/>
          </a:xfrm>
          <a:prstGeom prst="rect">
            <a:avLst/>
          </a:prstGeom>
          <a:solidFill>
            <a:srgbClr val="FBBF24"/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590288" y="2770632"/>
            <a:ext cx="303580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 err="1">
                <a:solidFill>
                  <a:srgbClr val="F8FAFC"/>
                </a:solidFill>
              </a:rPr>
              <a:t>Varljiva</a:t>
            </a:r>
            <a:r>
              <a:rPr lang="en-US" sz="1600" b="1" dirty="0">
                <a:solidFill>
                  <a:srgbClr val="F8FAFC"/>
                </a:solidFill>
              </a:rPr>
              <a:t> </a:t>
            </a:r>
            <a:r>
              <a:rPr lang="en-US" sz="1600" b="1" dirty="0" err="1">
                <a:solidFill>
                  <a:srgbClr val="F8FAFC"/>
                </a:solidFill>
              </a:rPr>
              <a:t>metrika</a:t>
            </a:r>
            <a:endParaRPr lang="en-US" sz="1600" dirty="0" err="1"/>
          </a:p>
        </p:txBody>
      </p:sp>
      <p:sp>
        <p:nvSpPr>
          <p:cNvPr id="25" name="Text 23"/>
          <p:cNvSpPr/>
          <p:nvPr/>
        </p:nvSpPr>
        <p:spPr>
          <a:xfrm>
            <a:off x="4590288" y="3108960"/>
            <a:ext cx="3035808" cy="6858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CBD5E1"/>
                </a:solidFill>
              </a:rPr>
              <a:t>Accuracy </a:t>
            </a:r>
            <a:r>
              <a:rPr lang="en-US" sz="1200" dirty="0" err="1">
                <a:solidFill>
                  <a:srgbClr val="CBD5E1"/>
                </a:solidFill>
              </a:rPr>
              <a:t>nije</a:t>
            </a:r>
            <a:r>
              <a:rPr lang="en-US" sz="1200" dirty="0">
                <a:solidFill>
                  <a:srgbClr val="CBD5E1"/>
                </a:solidFill>
              </a:rPr>
              <a:t> </a:t>
            </a:r>
            <a:r>
              <a:rPr lang="en-US" sz="1200" dirty="0" err="1">
                <a:solidFill>
                  <a:srgbClr val="CBD5E1"/>
                </a:solidFill>
              </a:rPr>
              <a:t>dovoljna</a:t>
            </a:r>
            <a:r>
              <a:rPr lang="en-US" sz="1200" dirty="0">
                <a:solidFill>
                  <a:srgbClr val="CBD5E1"/>
                </a:solidFill>
              </a:rPr>
              <a:t>. Fokus mora </a:t>
            </a:r>
            <a:r>
              <a:rPr lang="en-US" sz="1200" dirty="0" err="1">
                <a:solidFill>
                  <a:srgbClr val="CBD5E1"/>
                </a:solidFill>
              </a:rPr>
              <a:t>biti</a:t>
            </a:r>
            <a:r>
              <a:rPr lang="en-US" sz="1200" dirty="0">
                <a:solidFill>
                  <a:srgbClr val="CBD5E1"/>
                </a:solidFill>
              </a:rPr>
              <a:t> </a:t>
            </a:r>
            <a:r>
              <a:rPr lang="en-US" sz="1200" dirty="0" err="1">
                <a:solidFill>
                  <a:srgbClr val="CBD5E1"/>
                </a:solidFill>
              </a:rPr>
              <a:t>na</a:t>
            </a:r>
            <a:r>
              <a:rPr lang="en-US" sz="1200" dirty="0">
                <a:solidFill>
                  <a:srgbClr val="CBD5E1"/>
                </a:solidFill>
              </a:rPr>
              <a:t> Precision, Recall, F1-score </a:t>
            </a:r>
            <a:r>
              <a:rPr lang="en-US" sz="1200" dirty="0" err="1">
                <a:solidFill>
                  <a:srgbClr val="CBD5E1"/>
                </a:solidFill>
              </a:rPr>
              <a:t>i</a:t>
            </a:r>
            <a:r>
              <a:rPr lang="en-US" sz="1200" dirty="0">
                <a:solidFill>
                  <a:srgbClr val="CBD5E1"/>
                </a:solidFill>
              </a:rPr>
              <a:t> PR-AUC za fraud </a:t>
            </a:r>
            <a:r>
              <a:rPr lang="en-US" sz="1200" dirty="0" err="1">
                <a:solidFill>
                  <a:srgbClr val="CBD5E1"/>
                </a:solidFill>
              </a:rPr>
              <a:t>klasu</a:t>
            </a:r>
            <a:r>
              <a:rPr lang="en-US" sz="1200" dirty="0">
                <a:solidFill>
                  <a:srgbClr val="CBD5E1"/>
                </a:solidFill>
              </a:rPr>
              <a:t>.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8001000" y="2606040"/>
            <a:ext cx="3383280" cy="1325880"/>
          </a:xfrm>
          <a:prstGeom prst="roundRect">
            <a:avLst>
              <a:gd name="adj" fmla="val 8276"/>
            </a:avLst>
          </a:prstGeom>
          <a:solidFill>
            <a:srgbClr val="172033"/>
          </a:solidFill>
          <a:ln w="12700">
            <a:solidFill>
              <a:srgbClr val="334155">
                <a:alpha val="80000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8001000" y="2606040"/>
            <a:ext cx="54864" cy="1325880"/>
          </a:xfrm>
          <a:prstGeom prst="rect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8202168" y="2770632"/>
            <a:ext cx="303580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 err="1">
                <a:solidFill>
                  <a:srgbClr val="F8FAFC"/>
                </a:solidFill>
              </a:rPr>
              <a:t>Poslovni</a:t>
            </a:r>
            <a:r>
              <a:rPr lang="en-US" sz="1600" b="1" dirty="0">
                <a:solidFill>
                  <a:srgbClr val="F8FAFC"/>
                </a:solidFill>
              </a:rPr>
              <a:t> </a:t>
            </a:r>
            <a:r>
              <a:rPr lang="en-US" sz="1600" b="1" dirty="0" err="1">
                <a:solidFill>
                  <a:srgbClr val="F8FAFC"/>
                </a:solidFill>
              </a:rPr>
              <a:t>kompromis</a:t>
            </a:r>
            <a:endParaRPr lang="en-US" sz="1600" dirty="0" err="1"/>
          </a:p>
        </p:txBody>
      </p:sp>
      <p:sp>
        <p:nvSpPr>
          <p:cNvPr id="29" name="Text 27"/>
          <p:cNvSpPr/>
          <p:nvPr/>
        </p:nvSpPr>
        <p:spPr>
          <a:xfrm>
            <a:off x="8202168" y="3108960"/>
            <a:ext cx="3035808" cy="6858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CBD5E1"/>
                </a:solidFill>
              </a:rPr>
              <a:t>False Negative </a:t>
            </a:r>
            <a:r>
              <a:rPr lang="en-US" sz="1200" dirty="0" err="1">
                <a:solidFill>
                  <a:srgbClr val="CBD5E1"/>
                </a:solidFill>
              </a:rPr>
              <a:t>propušta</a:t>
            </a:r>
            <a:r>
              <a:rPr lang="en-US" sz="1200" dirty="0">
                <a:solidFill>
                  <a:srgbClr val="CBD5E1"/>
                </a:solidFill>
              </a:rPr>
              <a:t> </a:t>
            </a:r>
            <a:r>
              <a:rPr lang="en-US" sz="1200" dirty="0" err="1">
                <a:solidFill>
                  <a:srgbClr val="CBD5E1"/>
                </a:solidFill>
              </a:rPr>
              <a:t>prevaru</a:t>
            </a:r>
            <a:r>
              <a:rPr lang="en-US" sz="1200" dirty="0">
                <a:solidFill>
                  <a:srgbClr val="CBD5E1"/>
                </a:solidFill>
              </a:rPr>
              <a:t>, False Positive </a:t>
            </a:r>
            <a:r>
              <a:rPr lang="en-US" sz="1200" dirty="0" err="1">
                <a:solidFill>
                  <a:srgbClr val="CBD5E1"/>
                </a:solidFill>
              </a:rPr>
              <a:t>blokira</a:t>
            </a:r>
            <a:r>
              <a:rPr lang="en-US" sz="1200" dirty="0">
                <a:solidFill>
                  <a:srgbClr val="CBD5E1"/>
                </a:solidFill>
              </a:rPr>
              <a:t> </a:t>
            </a:r>
            <a:r>
              <a:rPr lang="en-US" sz="1200" dirty="0" err="1">
                <a:solidFill>
                  <a:srgbClr val="CBD5E1"/>
                </a:solidFill>
              </a:rPr>
              <a:t>legitimnog</a:t>
            </a:r>
            <a:r>
              <a:rPr lang="en-US" sz="1200" dirty="0">
                <a:solidFill>
                  <a:srgbClr val="CBD5E1"/>
                </a:solidFill>
              </a:rPr>
              <a:t> </a:t>
            </a:r>
            <a:r>
              <a:rPr lang="en-US" sz="1200" dirty="0" err="1">
                <a:solidFill>
                  <a:srgbClr val="CBD5E1"/>
                </a:solidFill>
              </a:rPr>
              <a:t>korisnika</a:t>
            </a:r>
            <a:r>
              <a:rPr lang="en-US" sz="1200" dirty="0">
                <a:solidFill>
                  <a:srgbClr val="CBD5E1"/>
                </a:solidFill>
              </a:rPr>
              <a:t>. </a:t>
            </a:r>
            <a:r>
              <a:rPr lang="en-US" sz="1200" dirty="0" err="1">
                <a:solidFill>
                  <a:srgbClr val="CBD5E1"/>
                </a:solidFill>
              </a:rPr>
              <a:t>Potreban</a:t>
            </a:r>
            <a:r>
              <a:rPr lang="en-US" sz="1200" dirty="0">
                <a:solidFill>
                  <a:srgbClr val="CBD5E1"/>
                </a:solidFill>
              </a:rPr>
              <a:t> je </a:t>
            </a:r>
            <a:r>
              <a:rPr lang="en-US" sz="1200" dirty="0" err="1">
                <a:solidFill>
                  <a:srgbClr val="CBD5E1"/>
                </a:solidFill>
              </a:rPr>
              <a:t>balans</a:t>
            </a:r>
            <a:r>
              <a:rPr lang="en-US" sz="1200" dirty="0">
                <a:solidFill>
                  <a:srgbClr val="CBD5E1"/>
                </a:solidFill>
              </a:rPr>
              <a:t>.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1005840" y="4892040"/>
            <a:ext cx="10149840" cy="6400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8FAFC"/>
                </a:solidFill>
              </a:rPr>
              <a:t>Neuronske mreže mogu naučiti nelinearne obrasce u transakcijama i detektovati suptilne anomalije koje nisu očigledne jednostavnim pravilima.</a:t>
            </a:r>
            <a:endParaRPr lang="en-US" sz="1500" dirty="0"/>
          </a:p>
        </p:txBody>
      </p:sp>
      <p:sp>
        <p:nvSpPr>
          <p:cNvPr id="32" name="Text 30"/>
          <p:cNvSpPr/>
          <p:nvPr/>
        </p:nvSpPr>
        <p:spPr>
          <a:xfrm>
            <a:off x="11475720" y="6473952"/>
            <a:ext cx="4114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22D3EE"/>
                </a:solidFill>
              </a:rPr>
              <a:t>03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B10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020"/>
          </a:solidFill>
          <a:ln w="12700">
            <a:solidFill>
              <a:srgbClr val="0B102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6720840"/>
            <a:ext cx="12191695" cy="137160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502920"/>
            <a:ext cx="594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2D3EE"/>
                </a:solidFill>
              </a:rPr>
              <a:t>02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1115568" y="667512"/>
            <a:ext cx="411480" cy="0"/>
          </a:xfrm>
          <a:prstGeom prst="line">
            <a:avLst/>
          </a:prstGeom>
          <a:noFill/>
          <a:ln w="12700">
            <a:solidFill>
              <a:srgbClr val="33415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600200" y="448056"/>
            <a:ext cx="8961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F8FAFC"/>
                </a:solidFill>
              </a:rPr>
              <a:t>Podaci &amp; Preprocesiranje</a:t>
            </a:r>
            <a:endParaRPr lang="en-US" sz="1900" dirty="0"/>
          </a:p>
        </p:txBody>
      </p:sp>
      <p:sp>
        <p:nvSpPr>
          <p:cNvPr id="9" name="Shape 7"/>
          <p:cNvSpPr/>
          <p:nvPr/>
        </p:nvSpPr>
        <p:spPr>
          <a:xfrm>
            <a:off x="685800" y="1234440"/>
            <a:ext cx="1600200" cy="960120"/>
          </a:xfrm>
          <a:prstGeom prst="roundRect">
            <a:avLst>
              <a:gd name="adj" fmla="val 9524"/>
            </a:avLst>
          </a:prstGeom>
          <a:solidFill>
            <a:srgbClr val="172033"/>
          </a:solidFill>
          <a:ln w="12700">
            <a:solidFill>
              <a:srgbClr val="334155">
                <a:alpha val="7500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95528" y="1371600"/>
            <a:ext cx="138074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22D3EE"/>
                </a:solidFill>
              </a:rPr>
              <a:t>284.807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804672" y="1801368"/>
            <a:ext cx="13624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 err="1">
                <a:solidFill>
                  <a:srgbClr val="94A3B8"/>
                </a:solidFill>
              </a:rPr>
              <a:t>transakcija</a:t>
            </a:r>
            <a:endParaRPr lang="en-US" sz="1100" dirty="0" err="1"/>
          </a:p>
        </p:txBody>
      </p:sp>
      <p:sp>
        <p:nvSpPr>
          <p:cNvPr id="12" name="Shape 10"/>
          <p:cNvSpPr/>
          <p:nvPr/>
        </p:nvSpPr>
        <p:spPr>
          <a:xfrm>
            <a:off x="2468880" y="1234440"/>
            <a:ext cx="1600200" cy="960120"/>
          </a:xfrm>
          <a:prstGeom prst="roundRect">
            <a:avLst>
              <a:gd name="adj" fmla="val 9524"/>
            </a:avLst>
          </a:prstGeom>
          <a:solidFill>
            <a:srgbClr val="172033"/>
          </a:solidFill>
          <a:ln w="12700">
            <a:solidFill>
              <a:srgbClr val="334155">
                <a:alpha val="7500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578608" y="1371600"/>
            <a:ext cx="138074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34D399"/>
                </a:solidFill>
              </a:rPr>
              <a:t>30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2587752" y="1801368"/>
            <a:ext cx="13624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 err="1">
                <a:solidFill>
                  <a:srgbClr val="94A3B8"/>
                </a:solidFill>
              </a:rPr>
              <a:t>atributa</a:t>
            </a:r>
            <a:endParaRPr lang="en-US" sz="1200" dirty="0" err="1"/>
          </a:p>
        </p:txBody>
      </p:sp>
      <p:sp>
        <p:nvSpPr>
          <p:cNvPr id="15" name="Shape 13"/>
          <p:cNvSpPr/>
          <p:nvPr/>
        </p:nvSpPr>
        <p:spPr>
          <a:xfrm>
            <a:off x="4251960" y="1234440"/>
            <a:ext cx="1600200" cy="960120"/>
          </a:xfrm>
          <a:prstGeom prst="roundRect">
            <a:avLst>
              <a:gd name="adj" fmla="val 9524"/>
            </a:avLst>
          </a:prstGeom>
          <a:solidFill>
            <a:srgbClr val="172033"/>
          </a:solidFill>
          <a:ln w="12700">
            <a:solidFill>
              <a:srgbClr val="334155">
                <a:alpha val="7500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361688" y="1371600"/>
            <a:ext cx="138074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B7185"/>
                </a:solidFill>
              </a:rPr>
              <a:t>492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4370832" y="1801368"/>
            <a:ext cx="13624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 err="1">
                <a:solidFill>
                  <a:srgbClr val="94A3B8"/>
                </a:solidFill>
              </a:rPr>
              <a:t>prevara</a:t>
            </a:r>
            <a:endParaRPr lang="en-US" sz="1200" dirty="0" err="1"/>
          </a:p>
        </p:txBody>
      </p:sp>
      <p:sp>
        <p:nvSpPr>
          <p:cNvPr id="18" name="Shape 16"/>
          <p:cNvSpPr/>
          <p:nvPr/>
        </p:nvSpPr>
        <p:spPr>
          <a:xfrm>
            <a:off x="6035040" y="1234440"/>
            <a:ext cx="1600200" cy="960120"/>
          </a:xfrm>
          <a:prstGeom prst="roundRect">
            <a:avLst>
              <a:gd name="adj" fmla="val 9524"/>
            </a:avLst>
          </a:prstGeom>
          <a:solidFill>
            <a:srgbClr val="172033"/>
          </a:solidFill>
          <a:ln w="12700">
            <a:solidFill>
              <a:srgbClr val="334155">
                <a:alpha val="7500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144768" y="1371600"/>
            <a:ext cx="138074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A78BFA"/>
                </a:solidFill>
              </a:rPr>
              <a:t>60/20/20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6153912" y="1801368"/>
            <a:ext cx="13624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94A3B8"/>
                </a:solidFill>
              </a:rPr>
              <a:t>train/</a:t>
            </a:r>
            <a:r>
              <a:rPr lang="en-US" sz="1200" dirty="0" err="1">
                <a:solidFill>
                  <a:srgbClr val="94A3B8"/>
                </a:solidFill>
              </a:rPr>
              <a:t>val</a:t>
            </a:r>
            <a:r>
              <a:rPr lang="en-US" sz="1200" dirty="0">
                <a:solidFill>
                  <a:srgbClr val="94A3B8"/>
                </a:solidFill>
              </a:rPr>
              <a:t>/test</a:t>
            </a:r>
            <a:endParaRPr lang="en-US" sz="1050" dirty="0"/>
          </a:p>
        </p:txBody>
      </p:sp>
      <p:graphicFrame>
        <p:nvGraphicFramePr>
          <p:cNvPr id="2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52494720"/>
              </p:ext>
            </p:extLst>
          </p:nvPr>
        </p:nvGraphicFramePr>
        <p:xfrm>
          <a:off x="713232" y="2514600"/>
          <a:ext cx="6766560" cy="1828800"/>
        </p:xfrm>
        <a:graphic>
          <a:graphicData uri="http://schemas.openxmlformats.org/drawingml/2006/table">
            <a:tbl>
              <a:tblPr/>
              <a:tblGrid>
                <a:gridCol w="12801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801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2062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 err="1">
                          <a:solidFill>
                            <a:srgbClr val="FFFFFF"/>
                          </a:solidFill>
                        </a:rPr>
                        <a:t>Atribut</a:t>
                      </a:r>
                      <a:endParaRPr lang="en-US" sz="1400" err="1"/>
                    </a:p>
                  </a:txBody>
                  <a:tcPr marL="45720" marR="45720">
                    <a:lnL w="762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93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Tip</a:t>
                      </a:r>
                      <a:endParaRPr lang="en-US" sz="1400"/>
                    </a:p>
                  </a:txBody>
                  <a:tcPr marL="45720" marR="45720">
                    <a:lnL w="762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93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 err="1">
                          <a:solidFill>
                            <a:srgbClr val="FFFFFF"/>
                          </a:solidFill>
                        </a:rPr>
                        <a:t>Opis</a:t>
                      </a:r>
                      <a:endParaRPr lang="en-US" sz="1400" dirty="0" err="1"/>
                    </a:p>
                  </a:txBody>
                  <a:tcPr marL="45720" marR="45720">
                    <a:lnL w="762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93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F8FAFC"/>
                          </a:solidFill>
                        </a:rPr>
                        <a:t>V1–V28</a:t>
                      </a:r>
                      <a:endParaRPr lang="en-US" sz="1200"/>
                    </a:p>
                  </a:txBody>
                  <a:tcPr marL="45720" marR="45720">
                    <a:lnL w="762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203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F8FAFC"/>
                          </a:solidFill>
                        </a:rPr>
                        <a:t>Float / PCA</a:t>
                      </a:r>
                      <a:endParaRPr lang="en-US" sz="1200"/>
                    </a:p>
                  </a:txBody>
                  <a:tcPr marL="45720" marR="45720">
                    <a:lnL w="762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203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 err="1">
                          <a:solidFill>
                            <a:srgbClr val="F8FAFC"/>
                          </a:solidFill>
                        </a:rPr>
                        <a:t>Anonimizovane</a:t>
                      </a:r>
                      <a:r>
                        <a:rPr lang="en-US" sz="1200" dirty="0">
                          <a:solidFill>
                            <a:srgbClr val="F8FAFC"/>
                          </a:solidFill>
                        </a:rPr>
                        <a:t> </a:t>
                      </a:r>
                      <a:r>
                        <a:rPr lang="en-US" sz="1200" dirty="0" err="1">
                          <a:solidFill>
                            <a:srgbClr val="F8FAFC"/>
                          </a:solidFill>
                        </a:rPr>
                        <a:t>karakteristike</a:t>
                      </a:r>
                      <a:r>
                        <a:rPr lang="en-US" sz="1200" dirty="0">
                          <a:solidFill>
                            <a:srgbClr val="F8FAFC"/>
                          </a:solidFill>
                        </a:rPr>
                        <a:t> </a:t>
                      </a:r>
                      <a:r>
                        <a:rPr lang="en-US" sz="1200" dirty="0" err="1">
                          <a:solidFill>
                            <a:srgbClr val="F8FAFC"/>
                          </a:solidFill>
                        </a:rPr>
                        <a:t>transakcije</a:t>
                      </a:r>
                      <a:endParaRPr lang="en-US" sz="1200" err="1"/>
                    </a:p>
                  </a:txBody>
                  <a:tcPr marL="45720" marR="45720">
                    <a:lnL w="762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20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F8FAFC"/>
                          </a:solidFill>
                        </a:rPr>
                        <a:t>Time</a:t>
                      </a:r>
                      <a:endParaRPr lang="en-US" sz="1200"/>
                    </a:p>
                  </a:txBody>
                  <a:tcPr marL="45720" marR="45720">
                    <a:lnL w="762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203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F8FAFC"/>
                          </a:solidFill>
                        </a:rPr>
                        <a:t>Float</a:t>
                      </a:r>
                      <a:endParaRPr lang="en-US" sz="1200"/>
                    </a:p>
                  </a:txBody>
                  <a:tcPr marL="45720" marR="45720">
                    <a:lnL w="762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203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 err="1">
                          <a:solidFill>
                            <a:srgbClr val="F8FAFC"/>
                          </a:solidFill>
                        </a:rPr>
                        <a:t>Sekunde</a:t>
                      </a:r>
                      <a:r>
                        <a:rPr lang="en-US" sz="1200" dirty="0">
                          <a:solidFill>
                            <a:srgbClr val="F8FAFC"/>
                          </a:solidFill>
                        </a:rPr>
                        <a:t> od </a:t>
                      </a:r>
                      <a:r>
                        <a:rPr lang="en-US" sz="1200" dirty="0" err="1">
                          <a:solidFill>
                            <a:srgbClr val="F8FAFC"/>
                          </a:solidFill>
                        </a:rPr>
                        <a:t>prve</a:t>
                      </a:r>
                      <a:r>
                        <a:rPr lang="en-US" sz="1200" dirty="0">
                          <a:solidFill>
                            <a:srgbClr val="F8FAFC"/>
                          </a:solidFill>
                        </a:rPr>
                        <a:t> </a:t>
                      </a:r>
                      <a:r>
                        <a:rPr lang="en-US" sz="1200" dirty="0" err="1">
                          <a:solidFill>
                            <a:srgbClr val="F8FAFC"/>
                          </a:solidFill>
                        </a:rPr>
                        <a:t>transakcije</a:t>
                      </a:r>
                      <a:r>
                        <a:rPr lang="en-US" sz="1200" dirty="0">
                          <a:solidFill>
                            <a:srgbClr val="F8FAFC"/>
                          </a:solidFill>
                        </a:rPr>
                        <a:t> u </a:t>
                      </a:r>
                      <a:r>
                        <a:rPr lang="en-US" sz="1200" dirty="0" err="1">
                          <a:solidFill>
                            <a:srgbClr val="F8FAFC"/>
                          </a:solidFill>
                        </a:rPr>
                        <a:t>skupu</a:t>
                      </a:r>
                      <a:endParaRPr lang="en-US" sz="1200" err="1"/>
                    </a:p>
                  </a:txBody>
                  <a:tcPr marL="45720" marR="45720">
                    <a:lnL w="762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20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F8FAFC"/>
                          </a:solidFill>
                        </a:rPr>
                        <a:t>Amount</a:t>
                      </a:r>
                      <a:endParaRPr lang="en-US" sz="1200"/>
                    </a:p>
                  </a:txBody>
                  <a:tcPr marL="45720" marR="45720">
                    <a:lnL w="762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203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F8FAFC"/>
                          </a:solidFill>
                        </a:rPr>
                        <a:t>Float</a:t>
                      </a:r>
                      <a:endParaRPr lang="en-US" sz="1200"/>
                    </a:p>
                  </a:txBody>
                  <a:tcPr marL="45720" marR="45720">
                    <a:lnL w="762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203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 err="1">
                          <a:solidFill>
                            <a:srgbClr val="F8FAFC"/>
                          </a:solidFill>
                        </a:rPr>
                        <a:t>Iznos</a:t>
                      </a:r>
                      <a:r>
                        <a:rPr lang="en-US" sz="1200" dirty="0">
                          <a:solidFill>
                            <a:srgbClr val="F8FAFC"/>
                          </a:solidFill>
                        </a:rPr>
                        <a:t> </a:t>
                      </a:r>
                      <a:r>
                        <a:rPr lang="en-US" sz="1200" dirty="0" err="1">
                          <a:solidFill>
                            <a:srgbClr val="F8FAFC"/>
                          </a:solidFill>
                        </a:rPr>
                        <a:t>transakcije</a:t>
                      </a:r>
                      <a:endParaRPr lang="en-US" sz="1200" err="1"/>
                    </a:p>
                  </a:txBody>
                  <a:tcPr marL="45720" marR="45720">
                    <a:lnL w="762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20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F8FAFC"/>
                          </a:solidFill>
                        </a:rPr>
                        <a:t>Class</a:t>
                      </a:r>
                      <a:endParaRPr lang="en-US" sz="1200"/>
                    </a:p>
                  </a:txBody>
                  <a:tcPr marL="45720" marR="45720">
                    <a:lnL w="762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203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F8FAFC"/>
                          </a:solidFill>
                        </a:rPr>
                        <a:t>0 / 1</a:t>
                      </a:r>
                      <a:endParaRPr lang="en-US" sz="1200"/>
                    </a:p>
                  </a:txBody>
                  <a:tcPr marL="45720" marR="45720">
                    <a:lnL w="762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203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 err="1">
                          <a:solidFill>
                            <a:srgbClr val="F8FAFC"/>
                          </a:solidFill>
                        </a:rPr>
                        <a:t>Ciljna</a:t>
                      </a:r>
                      <a:r>
                        <a:rPr lang="en-US" sz="1200" dirty="0">
                          <a:solidFill>
                            <a:srgbClr val="F8FAFC"/>
                          </a:solidFill>
                        </a:rPr>
                        <a:t> </a:t>
                      </a:r>
                      <a:r>
                        <a:rPr lang="en-US" sz="1200" dirty="0" err="1">
                          <a:solidFill>
                            <a:srgbClr val="F8FAFC"/>
                          </a:solidFill>
                        </a:rPr>
                        <a:t>promenljiva</a:t>
                      </a:r>
                      <a:r>
                        <a:rPr lang="en-US" sz="1200" dirty="0">
                          <a:solidFill>
                            <a:srgbClr val="F8FAFC"/>
                          </a:solidFill>
                        </a:rPr>
                        <a:t>: 0 </a:t>
                      </a:r>
                      <a:r>
                        <a:rPr lang="en-US" sz="1200" dirty="0" err="1">
                          <a:solidFill>
                            <a:srgbClr val="F8FAFC"/>
                          </a:solidFill>
                        </a:rPr>
                        <a:t>regularno</a:t>
                      </a:r>
                      <a:r>
                        <a:rPr lang="en-US" sz="1200" dirty="0">
                          <a:solidFill>
                            <a:srgbClr val="F8FAFC"/>
                          </a:solidFill>
                        </a:rPr>
                        <a:t>, 1 </a:t>
                      </a:r>
                      <a:r>
                        <a:rPr lang="en-US" sz="1200" dirty="0" err="1">
                          <a:solidFill>
                            <a:srgbClr val="F8FAFC"/>
                          </a:solidFill>
                        </a:rPr>
                        <a:t>prevara</a:t>
                      </a:r>
                      <a:endParaRPr lang="en-US" sz="1200" err="1"/>
                    </a:p>
                  </a:txBody>
                  <a:tcPr marL="45720" marR="45720">
                    <a:lnL w="762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20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22" name="Shape 19"/>
          <p:cNvSpPr/>
          <p:nvPr/>
        </p:nvSpPr>
        <p:spPr>
          <a:xfrm>
            <a:off x="7863840" y="1234440"/>
            <a:ext cx="3520440" cy="3154680"/>
          </a:xfrm>
          <a:prstGeom prst="roundRect">
            <a:avLst>
              <a:gd name="adj" fmla="val 3478"/>
            </a:avLst>
          </a:prstGeom>
          <a:solidFill>
            <a:srgbClr val="172033"/>
          </a:solidFill>
          <a:ln w="12700">
            <a:solidFill>
              <a:srgbClr val="334155">
                <a:alpha val="80000"/>
              </a:srgbClr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>
            <a:off x="7863840" y="1234440"/>
            <a:ext cx="54864" cy="3154680"/>
          </a:xfrm>
          <a:prstGeom prst="rect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8065008" y="1399032"/>
            <a:ext cx="317296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 err="1">
                <a:solidFill>
                  <a:srgbClr val="F8FAFC"/>
                </a:solidFill>
              </a:rPr>
              <a:t>Preprocesiranje</a:t>
            </a:r>
            <a:endParaRPr lang="en-US" sz="1600" dirty="0" err="1"/>
          </a:p>
        </p:txBody>
      </p:sp>
      <p:sp>
        <p:nvSpPr>
          <p:cNvPr id="25" name="Text 22"/>
          <p:cNvSpPr/>
          <p:nvPr/>
        </p:nvSpPr>
        <p:spPr>
          <a:xfrm>
            <a:off x="8065008" y="1737360"/>
            <a:ext cx="3172968" cy="25146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CBD5E1"/>
                </a:solidFill>
              </a:rPr>
              <a:t>• </a:t>
            </a:r>
            <a:r>
              <a:rPr lang="en-US" sz="1200" dirty="0" err="1">
                <a:solidFill>
                  <a:srgbClr val="CBD5E1"/>
                </a:solidFill>
              </a:rPr>
              <a:t>Stratifikovana</a:t>
            </a:r>
            <a:r>
              <a:rPr lang="en-US" sz="1200" dirty="0">
                <a:solidFill>
                  <a:srgbClr val="CBD5E1"/>
                </a:solidFill>
              </a:rPr>
              <a:t> train/validation/test </a:t>
            </a:r>
            <a:r>
              <a:rPr lang="en-US" sz="1200" dirty="0" err="1">
                <a:solidFill>
                  <a:srgbClr val="CBD5E1"/>
                </a:solidFill>
              </a:rPr>
              <a:t>podela</a:t>
            </a:r>
            <a:endParaRPr lang="en-US" sz="1200"/>
          </a:p>
          <a:p>
            <a:pPr marL="0" indent="0">
              <a:buNone/>
            </a:pPr>
            <a:r>
              <a:rPr lang="en-US" sz="1200" dirty="0">
                <a:solidFill>
                  <a:srgbClr val="CBD5E1"/>
                </a:solidFill>
              </a:rPr>
              <a:t>• </a:t>
            </a:r>
            <a:r>
              <a:rPr lang="en-US" sz="1200" dirty="0" err="1">
                <a:solidFill>
                  <a:srgbClr val="CBD5E1"/>
                </a:solidFill>
              </a:rPr>
              <a:t>RobustScaler</a:t>
            </a:r>
            <a:r>
              <a:rPr lang="en-US" sz="1200" dirty="0">
                <a:solidFill>
                  <a:srgbClr val="CBD5E1"/>
                </a:solidFill>
              </a:rPr>
              <a:t> za </a:t>
            </a:r>
            <a:r>
              <a:rPr lang="en-US" sz="1200" dirty="0" err="1">
                <a:solidFill>
                  <a:srgbClr val="CBD5E1"/>
                </a:solidFill>
              </a:rPr>
              <a:t>numeričke</a:t>
            </a:r>
            <a:r>
              <a:rPr lang="en-US" sz="1200" dirty="0">
                <a:solidFill>
                  <a:srgbClr val="CBD5E1"/>
                </a:solidFill>
              </a:rPr>
              <a:t> </a:t>
            </a:r>
            <a:r>
              <a:rPr lang="en-US" sz="1200" dirty="0" err="1">
                <a:solidFill>
                  <a:srgbClr val="CBD5E1"/>
                </a:solidFill>
              </a:rPr>
              <a:t>atribute</a:t>
            </a:r>
            <a:endParaRPr lang="en-US" sz="1200"/>
          </a:p>
          <a:p>
            <a:pPr marL="0" indent="0">
              <a:buNone/>
            </a:pPr>
            <a:r>
              <a:rPr lang="en-US" sz="1200" dirty="0">
                <a:solidFill>
                  <a:srgbClr val="CBD5E1"/>
                </a:solidFill>
              </a:rPr>
              <a:t>• Scaler se </a:t>
            </a:r>
            <a:r>
              <a:rPr lang="en-US" sz="1200" dirty="0" err="1">
                <a:solidFill>
                  <a:srgbClr val="CBD5E1"/>
                </a:solidFill>
              </a:rPr>
              <a:t>fituje</a:t>
            </a:r>
            <a:r>
              <a:rPr lang="en-US" sz="1200" dirty="0">
                <a:solidFill>
                  <a:srgbClr val="CBD5E1"/>
                </a:solidFill>
              </a:rPr>
              <a:t> </a:t>
            </a:r>
            <a:r>
              <a:rPr lang="en-US" sz="1200" dirty="0" err="1">
                <a:solidFill>
                  <a:srgbClr val="CBD5E1"/>
                </a:solidFill>
              </a:rPr>
              <a:t>samo</a:t>
            </a:r>
            <a:r>
              <a:rPr lang="en-US" sz="1200" dirty="0">
                <a:solidFill>
                  <a:srgbClr val="CBD5E1"/>
                </a:solidFill>
              </a:rPr>
              <a:t> </a:t>
            </a:r>
            <a:r>
              <a:rPr lang="en-US" sz="1200" dirty="0" err="1">
                <a:solidFill>
                  <a:srgbClr val="CBD5E1"/>
                </a:solidFill>
              </a:rPr>
              <a:t>na</a:t>
            </a:r>
            <a:r>
              <a:rPr lang="en-US" sz="1200" dirty="0">
                <a:solidFill>
                  <a:srgbClr val="CBD5E1"/>
                </a:solidFill>
              </a:rPr>
              <a:t> train </a:t>
            </a:r>
            <a:r>
              <a:rPr lang="en-US" sz="1200" dirty="0" err="1">
                <a:solidFill>
                  <a:srgbClr val="CBD5E1"/>
                </a:solidFill>
              </a:rPr>
              <a:t>skupu</a:t>
            </a:r>
            <a:endParaRPr lang="en-US" sz="1200"/>
          </a:p>
          <a:p>
            <a:pPr marL="0" indent="0">
              <a:buNone/>
            </a:pPr>
            <a:r>
              <a:rPr lang="en-US" sz="1200" dirty="0">
                <a:solidFill>
                  <a:srgbClr val="CBD5E1"/>
                </a:solidFill>
              </a:rPr>
              <a:t>• Test </a:t>
            </a:r>
            <a:r>
              <a:rPr lang="en-US" sz="1200" dirty="0" err="1">
                <a:solidFill>
                  <a:srgbClr val="CBD5E1"/>
                </a:solidFill>
              </a:rPr>
              <a:t>skup</a:t>
            </a:r>
            <a:r>
              <a:rPr lang="en-US" sz="1200" dirty="0">
                <a:solidFill>
                  <a:srgbClr val="CBD5E1"/>
                </a:solidFill>
              </a:rPr>
              <a:t> </a:t>
            </a:r>
            <a:r>
              <a:rPr lang="en-US" sz="1200" dirty="0" err="1">
                <a:solidFill>
                  <a:srgbClr val="CBD5E1"/>
                </a:solidFill>
              </a:rPr>
              <a:t>ostaje</a:t>
            </a:r>
            <a:r>
              <a:rPr lang="en-US" sz="1200" dirty="0">
                <a:solidFill>
                  <a:srgbClr val="CBD5E1"/>
                </a:solidFill>
              </a:rPr>
              <a:t> </a:t>
            </a:r>
            <a:r>
              <a:rPr lang="en-US" sz="1200" dirty="0" err="1">
                <a:solidFill>
                  <a:srgbClr val="CBD5E1"/>
                </a:solidFill>
              </a:rPr>
              <a:t>realno</a:t>
            </a:r>
            <a:r>
              <a:rPr lang="en-US" sz="1200" dirty="0">
                <a:solidFill>
                  <a:srgbClr val="CBD5E1"/>
                </a:solidFill>
              </a:rPr>
              <a:t> </a:t>
            </a:r>
            <a:r>
              <a:rPr lang="en-US" sz="1200" dirty="0" err="1">
                <a:solidFill>
                  <a:srgbClr val="CBD5E1"/>
                </a:solidFill>
              </a:rPr>
              <a:t>nebalansiran</a:t>
            </a:r>
            <a:endParaRPr lang="en-US" sz="1200"/>
          </a:p>
          <a:p>
            <a:pPr marL="0" indent="0">
              <a:buNone/>
            </a:pPr>
            <a:r>
              <a:rPr lang="en-US" sz="1200" dirty="0">
                <a:solidFill>
                  <a:srgbClr val="CBD5E1"/>
                </a:solidFill>
              </a:rPr>
              <a:t>• </a:t>
            </a:r>
            <a:r>
              <a:rPr lang="en-US" sz="1200" dirty="0" err="1">
                <a:solidFill>
                  <a:srgbClr val="CBD5E1"/>
                </a:solidFill>
              </a:rPr>
              <a:t>Cilj</a:t>
            </a:r>
            <a:r>
              <a:rPr lang="en-US" sz="1200" dirty="0">
                <a:solidFill>
                  <a:srgbClr val="CBD5E1"/>
                </a:solidFill>
              </a:rPr>
              <a:t>: </a:t>
            </a:r>
            <a:r>
              <a:rPr lang="en-US" sz="1200" dirty="0" err="1">
                <a:solidFill>
                  <a:srgbClr val="CBD5E1"/>
                </a:solidFill>
              </a:rPr>
              <a:t>izbeći</a:t>
            </a:r>
            <a:r>
              <a:rPr lang="en-US" sz="1200" dirty="0">
                <a:solidFill>
                  <a:srgbClr val="CBD5E1"/>
                </a:solidFill>
              </a:rPr>
              <a:t> data leakage</a:t>
            </a:r>
            <a:endParaRPr lang="en-US" sz="1050" dirty="0"/>
          </a:p>
        </p:txBody>
      </p:sp>
      <p:sp>
        <p:nvSpPr>
          <p:cNvPr id="26" name="Text 23"/>
          <p:cNvSpPr/>
          <p:nvPr/>
        </p:nvSpPr>
        <p:spPr>
          <a:xfrm>
            <a:off x="822960" y="5257800"/>
            <a:ext cx="10515600" cy="4114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CBD5E1"/>
                </a:solidFill>
              </a:rPr>
              <a:t>Dataset loading: notebook </a:t>
            </a:r>
            <a:r>
              <a:rPr lang="en-US" sz="1200" dirty="0" err="1">
                <a:solidFill>
                  <a:srgbClr val="CBD5E1"/>
                </a:solidFill>
              </a:rPr>
              <a:t>prvo</a:t>
            </a:r>
            <a:r>
              <a:rPr lang="en-US" sz="1200" dirty="0">
                <a:solidFill>
                  <a:srgbClr val="CBD5E1"/>
                </a:solidFill>
              </a:rPr>
              <a:t> </a:t>
            </a:r>
            <a:r>
              <a:rPr lang="en-US" sz="1200" dirty="0" err="1">
                <a:solidFill>
                  <a:srgbClr val="CBD5E1"/>
                </a:solidFill>
              </a:rPr>
              <a:t>traži</a:t>
            </a:r>
            <a:r>
              <a:rPr lang="en-US" sz="1200" dirty="0">
                <a:solidFill>
                  <a:srgbClr val="CBD5E1"/>
                </a:solidFill>
              </a:rPr>
              <a:t> </a:t>
            </a:r>
            <a:r>
              <a:rPr lang="en-US" sz="1200" dirty="0" err="1">
                <a:solidFill>
                  <a:srgbClr val="CBD5E1"/>
                </a:solidFill>
              </a:rPr>
              <a:t>lokalni</a:t>
            </a:r>
            <a:r>
              <a:rPr lang="en-US" sz="1200" dirty="0">
                <a:solidFill>
                  <a:srgbClr val="CBD5E1"/>
                </a:solidFill>
              </a:rPr>
              <a:t> data/creditcard.csv; </a:t>
            </a:r>
            <a:r>
              <a:rPr lang="en-US" sz="1200" dirty="0" err="1">
                <a:solidFill>
                  <a:srgbClr val="CBD5E1"/>
                </a:solidFill>
              </a:rPr>
              <a:t>ako</a:t>
            </a:r>
            <a:r>
              <a:rPr lang="en-US" sz="1200" dirty="0">
                <a:solidFill>
                  <a:srgbClr val="CBD5E1"/>
                </a:solidFill>
              </a:rPr>
              <a:t> ga </a:t>
            </a:r>
            <a:r>
              <a:rPr lang="en-US" sz="1200" dirty="0" err="1">
                <a:solidFill>
                  <a:srgbClr val="CBD5E1"/>
                </a:solidFill>
              </a:rPr>
              <a:t>nema</a:t>
            </a:r>
            <a:r>
              <a:rPr lang="en-US" sz="1200" dirty="0">
                <a:solidFill>
                  <a:srgbClr val="CBD5E1"/>
                </a:solidFill>
              </a:rPr>
              <a:t>, </a:t>
            </a:r>
            <a:r>
              <a:rPr lang="en-US" sz="1200" dirty="0" err="1">
                <a:solidFill>
                  <a:srgbClr val="CBD5E1"/>
                </a:solidFill>
              </a:rPr>
              <a:t>automatski</a:t>
            </a:r>
            <a:r>
              <a:rPr lang="en-US" sz="1200" dirty="0">
                <a:solidFill>
                  <a:srgbClr val="CBD5E1"/>
                </a:solidFill>
              </a:rPr>
              <a:t> </a:t>
            </a:r>
            <a:r>
              <a:rPr lang="en-US" sz="1200" dirty="0" err="1">
                <a:solidFill>
                  <a:srgbClr val="CBD5E1"/>
                </a:solidFill>
              </a:rPr>
              <a:t>preuzima</a:t>
            </a:r>
            <a:r>
              <a:rPr lang="en-US" sz="1200" dirty="0">
                <a:solidFill>
                  <a:srgbClr val="CBD5E1"/>
                </a:solidFill>
              </a:rPr>
              <a:t> dataset </a:t>
            </a:r>
            <a:r>
              <a:rPr lang="en-US" sz="1200" dirty="0" err="1">
                <a:solidFill>
                  <a:srgbClr val="CBD5E1"/>
                </a:solidFill>
              </a:rPr>
              <a:t>i</a:t>
            </a:r>
            <a:r>
              <a:rPr lang="en-US" sz="1200" dirty="0">
                <a:solidFill>
                  <a:srgbClr val="CBD5E1"/>
                </a:solidFill>
              </a:rPr>
              <a:t> </a:t>
            </a:r>
            <a:r>
              <a:rPr lang="en-US" sz="1200" dirty="0" err="1">
                <a:solidFill>
                  <a:srgbClr val="CBD5E1"/>
                </a:solidFill>
              </a:rPr>
              <a:t>raspakuje</a:t>
            </a:r>
            <a:r>
              <a:rPr lang="en-US" sz="1200" dirty="0">
                <a:solidFill>
                  <a:srgbClr val="CBD5E1"/>
                </a:solidFill>
              </a:rPr>
              <a:t> CSV.</a:t>
            </a:r>
            <a:endParaRPr lang="en-US" sz="1200" dirty="0"/>
          </a:p>
        </p:txBody>
      </p:sp>
      <p:sp>
        <p:nvSpPr>
          <p:cNvPr id="28" name="Text 25"/>
          <p:cNvSpPr/>
          <p:nvPr/>
        </p:nvSpPr>
        <p:spPr>
          <a:xfrm>
            <a:off x="11475720" y="6473952"/>
            <a:ext cx="4114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22D3EE"/>
                </a:solidFill>
              </a:rPr>
              <a:t>04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B10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020"/>
          </a:solidFill>
          <a:ln w="12700">
            <a:solidFill>
              <a:srgbClr val="0B102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6720840"/>
            <a:ext cx="12191695" cy="137160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502920"/>
            <a:ext cx="594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2D3EE"/>
                </a:solidFill>
              </a:rPr>
              <a:t>03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1115568" y="667512"/>
            <a:ext cx="411480" cy="0"/>
          </a:xfrm>
          <a:prstGeom prst="line">
            <a:avLst/>
          </a:prstGeom>
          <a:noFill/>
          <a:ln w="12700">
            <a:solidFill>
              <a:srgbClr val="33415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600200" y="448056"/>
            <a:ext cx="8961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F8FAFC"/>
                </a:solidFill>
              </a:rPr>
              <a:t>Arhitektura modela</a:t>
            </a:r>
            <a:endParaRPr lang="en-US" sz="1900" dirty="0"/>
          </a:p>
        </p:txBody>
      </p:sp>
      <p:sp>
        <p:nvSpPr>
          <p:cNvPr id="8" name="Text 6"/>
          <p:cNvSpPr/>
          <p:nvPr/>
        </p:nvSpPr>
        <p:spPr>
          <a:xfrm>
            <a:off x="1600200" y="877824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4A3B8"/>
                </a:solidFill>
              </a:rPr>
              <a:t>MLP </a:t>
            </a:r>
            <a:r>
              <a:rPr lang="en-US" sz="1200" dirty="0" err="1">
                <a:solidFill>
                  <a:srgbClr val="94A3B8"/>
                </a:solidFill>
              </a:rPr>
              <a:t>klasifikator</a:t>
            </a:r>
            <a:r>
              <a:rPr lang="en-US" sz="1200" dirty="0">
                <a:solidFill>
                  <a:srgbClr val="94A3B8"/>
                </a:solidFill>
              </a:rPr>
              <a:t> + Autoencoder anomaly detection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822960" y="1874520"/>
            <a:ext cx="1920240" cy="1234440"/>
          </a:xfrm>
          <a:prstGeom prst="roundRect">
            <a:avLst>
              <a:gd name="adj" fmla="val 8889"/>
            </a:avLst>
          </a:prstGeom>
          <a:solidFill>
            <a:srgbClr val="172033"/>
          </a:solidFill>
          <a:ln w="15240">
            <a:solidFill>
              <a:srgbClr val="22D3E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68680" y="2039112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22D3EE"/>
                </a:solidFill>
              </a:rPr>
              <a:t>30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914400" y="2478024"/>
            <a:ext cx="1737360" cy="4572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200" dirty="0" err="1">
                <a:solidFill>
                  <a:srgbClr val="CBD5E1"/>
                </a:solidFill>
              </a:rPr>
              <a:t>Ulaz</a:t>
            </a:r>
            <a:endParaRPr lang="en-US" sz="1200"/>
          </a:p>
          <a:p>
            <a:pPr marL="0" indent="0" algn="ctr">
              <a:buNone/>
            </a:pPr>
            <a:r>
              <a:rPr lang="en-US" sz="1200" dirty="0">
                <a:solidFill>
                  <a:srgbClr val="CBD5E1"/>
                </a:solidFill>
              </a:rPr>
              <a:t>Time, Amount, V1–V28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2816352" y="2304288"/>
            <a:ext cx="320040" cy="320040"/>
          </a:xfrm>
          <a:prstGeom prst="rightArrow">
            <a:avLst/>
          </a:prstGeom>
          <a:solidFill>
            <a:srgbClr val="334155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246120" y="1874520"/>
            <a:ext cx="1920240" cy="1234440"/>
          </a:xfrm>
          <a:prstGeom prst="roundRect">
            <a:avLst>
              <a:gd name="adj" fmla="val 8889"/>
            </a:avLst>
          </a:prstGeom>
          <a:solidFill>
            <a:srgbClr val="172033"/>
          </a:solidFill>
          <a:ln w="15240">
            <a:solidFill>
              <a:srgbClr val="34D399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291840" y="2039112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34D399"/>
                </a:solidFill>
              </a:rPr>
              <a:t>64/128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3337560" y="2478024"/>
            <a:ext cx="1737360" cy="4572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200" dirty="0">
                <a:solidFill>
                  <a:srgbClr val="CBD5E1"/>
                </a:solidFill>
              </a:rPr>
              <a:t>Dense + </a:t>
            </a:r>
            <a:r>
              <a:rPr lang="en-US" sz="1200" dirty="0" err="1">
                <a:solidFill>
                  <a:srgbClr val="CBD5E1"/>
                </a:solidFill>
              </a:rPr>
              <a:t>ReLU</a:t>
            </a:r>
            <a:endParaRPr lang="en-US" sz="1200"/>
          </a:p>
          <a:p>
            <a:pPr marL="0" indent="0" algn="ctr">
              <a:buNone/>
            </a:pPr>
            <a:r>
              <a:rPr lang="en-US" sz="1200" dirty="0" err="1">
                <a:solidFill>
                  <a:srgbClr val="CBD5E1"/>
                </a:solidFill>
              </a:rPr>
              <a:t>BatchNorm</a:t>
            </a:r>
            <a:r>
              <a:rPr lang="en-US" sz="1200" dirty="0">
                <a:solidFill>
                  <a:srgbClr val="CBD5E1"/>
                </a:solidFill>
              </a:rPr>
              <a:t> + Dropout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5239512" y="2304288"/>
            <a:ext cx="320040" cy="320040"/>
          </a:xfrm>
          <a:prstGeom prst="rightArrow">
            <a:avLst/>
          </a:prstGeom>
          <a:solidFill>
            <a:srgbClr val="334155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669280" y="1874520"/>
            <a:ext cx="1920240" cy="1234440"/>
          </a:xfrm>
          <a:prstGeom prst="roundRect">
            <a:avLst>
              <a:gd name="adj" fmla="val 8889"/>
            </a:avLst>
          </a:prstGeom>
          <a:solidFill>
            <a:srgbClr val="172033"/>
          </a:solidFill>
          <a:ln w="15240">
            <a:solidFill>
              <a:srgbClr val="A78BF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715000" y="2039112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A78BFA"/>
                </a:solidFill>
              </a:rPr>
              <a:t>32/64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5760720" y="2478024"/>
            <a:ext cx="1737360" cy="4572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200" dirty="0">
                <a:solidFill>
                  <a:srgbClr val="CBD5E1"/>
                </a:solidFill>
              </a:rPr>
              <a:t>Dense + </a:t>
            </a:r>
            <a:r>
              <a:rPr lang="en-US" sz="1200" dirty="0" err="1">
                <a:solidFill>
                  <a:srgbClr val="CBD5E1"/>
                </a:solidFill>
              </a:rPr>
              <a:t>ReLU</a:t>
            </a:r>
            <a:endParaRPr lang="en-US" sz="1200"/>
          </a:p>
          <a:p>
            <a:pPr marL="0" indent="0" algn="ctr">
              <a:buNone/>
            </a:pPr>
            <a:r>
              <a:rPr lang="en-US" sz="1200" dirty="0" err="1">
                <a:solidFill>
                  <a:srgbClr val="CBD5E1"/>
                </a:solidFill>
              </a:rPr>
              <a:t>BatchNorm</a:t>
            </a:r>
            <a:r>
              <a:rPr lang="en-US" sz="1200" dirty="0">
                <a:solidFill>
                  <a:srgbClr val="CBD5E1"/>
                </a:solidFill>
              </a:rPr>
              <a:t> + Dropout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7662672" y="2304288"/>
            <a:ext cx="320040" cy="320040"/>
          </a:xfrm>
          <a:prstGeom prst="rightArrow">
            <a:avLst/>
          </a:prstGeom>
          <a:solidFill>
            <a:srgbClr val="334155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8092440" y="1874520"/>
            <a:ext cx="1920240" cy="1234440"/>
          </a:xfrm>
          <a:prstGeom prst="roundRect">
            <a:avLst>
              <a:gd name="adj" fmla="val 8889"/>
            </a:avLst>
          </a:prstGeom>
          <a:solidFill>
            <a:srgbClr val="172033"/>
          </a:solidFill>
          <a:ln w="15240">
            <a:solidFill>
              <a:srgbClr val="FBBF24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138160" y="2039112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BBF24"/>
                </a:solidFill>
              </a:rPr>
              <a:t>1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8183880" y="2478024"/>
            <a:ext cx="1737360" cy="4572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200" dirty="0">
                <a:solidFill>
                  <a:srgbClr val="CBD5E1"/>
                </a:solidFill>
              </a:rPr>
              <a:t>Sigmoid</a:t>
            </a:r>
            <a:endParaRPr lang="en-US" sz="1200"/>
          </a:p>
          <a:p>
            <a:pPr marL="0" indent="0" algn="ctr">
              <a:buNone/>
            </a:pPr>
            <a:r>
              <a:rPr lang="en-US" sz="1200" dirty="0">
                <a:solidFill>
                  <a:srgbClr val="CBD5E1"/>
                </a:solidFill>
              </a:rPr>
              <a:t>P(</a:t>
            </a:r>
            <a:r>
              <a:rPr lang="en-US" sz="1200" dirty="0" err="1">
                <a:solidFill>
                  <a:srgbClr val="CBD5E1"/>
                </a:solidFill>
              </a:rPr>
              <a:t>prevara</a:t>
            </a:r>
            <a:r>
              <a:rPr lang="en-US" sz="1200" dirty="0">
                <a:solidFill>
                  <a:srgbClr val="CBD5E1"/>
                </a:solidFill>
              </a:rPr>
              <a:t>)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822960" y="3703320"/>
            <a:ext cx="5029200" cy="1234440"/>
          </a:xfrm>
          <a:prstGeom prst="roundRect">
            <a:avLst>
              <a:gd name="adj" fmla="val 8889"/>
            </a:avLst>
          </a:prstGeom>
          <a:solidFill>
            <a:srgbClr val="172033"/>
          </a:solidFill>
          <a:ln w="12700">
            <a:solidFill>
              <a:srgbClr val="334155">
                <a:alpha val="80000"/>
              </a:srgbClr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22960" y="3703320"/>
            <a:ext cx="54864" cy="1234440"/>
          </a:xfrm>
          <a:prstGeom prst="rect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1024128" y="3867912"/>
            <a:ext cx="468172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8FAFC"/>
                </a:solidFill>
              </a:rPr>
              <a:t>MLP </a:t>
            </a:r>
            <a:r>
              <a:rPr lang="en-US" sz="1400" b="1" dirty="0" err="1">
                <a:solidFill>
                  <a:srgbClr val="F8FAFC"/>
                </a:solidFill>
              </a:rPr>
              <a:t>konfiguracija</a:t>
            </a:r>
            <a:endParaRPr lang="en-US" sz="1400" dirty="0" err="1"/>
          </a:p>
        </p:txBody>
      </p:sp>
      <p:sp>
        <p:nvSpPr>
          <p:cNvPr id="27" name="Text 25"/>
          <p:cNvSpPr/>
          <p:nvPr/>
        </p:nvSpPr>
        <p:spPr>
          <a:xfrm>
            <a:off x="1024128" y="4206240"/>
            <a:ext cx="4681728" cy="5943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CBD5E1"/>
                </a:solidFill>
              </a:rPr>
              <a:t>Loss: binary </a:t>
            </a:r>
            <a:r>
              <a:rPr lang="en-US" sz="1200" dirty="0" err="1">
                <a:solidFill>
                  <a:srgbClr val="CBD5E1"/>
                </a:solidFill>
              </a:rPr>
              <a:t>crossentropy</a:t>
            </a:r>
            <a:r>
              <a:rPr lang="en-US" sz="1200" dirty="0">
                <a:solidFill>
                  <a:srgbClr val="CBD5E1"/>
                </a:solidFill>
              </a:rPr>
              <a:t> | Optimizer: Adam | </a:t>
            </a:r>
            <a:r>
              <a:rPr lang="en-US" sz="1200" dirty="0" err="1">
                <a:solidFill>
                  <a:srgbClr val="CBD5E1"/>
                </a:solidFill>
              </a:rPr>
              <a:t>EarlyStopping</a:t>
            </a:r>
            <a:r>
              <a:rPr lang="en-US" sz="1200" dirty="0">
                <a:solidFill>
                  <a:srgbClr val="CBD5E1"/>
                </a:solidFill>
              </a:rPr>
              <a:t>: </a:t>
            </a:r>
            <a:r>
              <a:rPr lang="en-US" sz="1200" dirty="0" err="1">
                <a:solidFill>
                  <a:srgbClr val="CBD5E1"/>
                </a:solidFill>
              </a:rPr>
              <a:t>val_pr_auc</a:t>
            </a:r>
            <a:r>
              <a:rPr lang="en-US" sz="1200" dirty="0">
                <a:solidFill>
                  <a:srgbClr val="CBD5E1"/>
                </a:solidFill>
              </a:rPr>
              <a:t> | Class weight za </a:t>
            </a:r>
            <a:r>
              <a:rPr lang="en-US" sz="1200" dirty="0" err="1">
                <a:solidFill>
                  <a:srgbClr val="CBD5E1"/>
                </a:solidFill>
              </a:rPr>
              <a:t>balansiranje</a:t>
            </a:r>
            <a:r>
              <a:rPr lang="en-US" sz="1200" dirty="0">
                <a:solidFill>
                  <a:srgbClr val="CBD5E1"/>
                </a:solidFill>
              </a:rPr>
              <a:t> </a:t>
            </a:r>
            <a:r>
              <a:rPr lang="en-US" sz="1200" dirty="0" err="1">
                <a:solidFill>
                  <a:srgbClr val="CBD5E1"/>
                </a:solidFill>
              </a:rPr>
              <a:t>retke</a:t>
            </a:r>
            <a:r>
              <a:rPr lang="en-US" sz="1200" dirty="0">
                <a:solidFill>
                  <a:srgbClr val="CBD5E1"/>
                </a:solidFill>
              </a:rPr>
              <a:t> </a:t>
            </a:r>
            <a:r>
              <a:rPr lang="en-US" sz="1200" dirty="0" err="1">
                <a:solidFill>
                  <a:srgbClr val="CBD5E1"/>
                </a:solidFill>
              </a:rPr>
              <a:t>klase</a:t>
            </a:r>
            <a:endParaRPr lang="en-US" sz="1100" dirty="0" err="1"/>
          </a:p>
        </p:txBody>
      </p:sp>
      <p:sp>
        <p:nvSpPr>
          <p:cNvPr id="28" name="Shape 26"/>
          <p:cNvSpPr/>
          <p:nvPr/>
        </p:nvSpPr>
        <p:spPr>
          <a:xfrm>
            <a:off x="6172200" y="3703320"/>
            <a:ext cx="5029200" cy="1234440"/>
          </a:xfrm>
          <a:prstGeom prst="roundRect">
            <a:avLst>
              <a:gd name="adj" fmla="val 8889"/>
            </a:avLst>
          </a:prstGeom>
          <a:solidFill>
            <a:srgbClr val="172033"/>
          </a:solidFill>
          <a:ln w="12700">
            <a:solidFill>
              <a:srgbClr val="334155">
                <a:alpha val="80000"/>
              </a:srgbClr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6172200" y="3703320"/>
            <a:ext cx="54864" cy="1234440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373368" y="3867912"/>
            <a:ext cx="468172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8FAFC"/>
                </a:solidFill>
              </a:rPr>
              <a:t>Autoencoder </a:t>
            </a:r>
            <a:r>
              <a:rPr lang="en-US" sz="1400" b="1" dirty="0" err="1">
                <a:solidFill>
                  <a:srgbClr val="F8FAFC"/>
                </a:solidFill>
              </a:rPr>
              <a:t>konfiguracija</a:t>
            </a:r>
            <a:endParaRPr lang="en-US" sz="1400" dirty="0" err="1"/>
          </a:p>
        </p:txBody>
      </p:sp>
      <p:sp>
        <p:nvSpPr>
          <p:cNvPr id="31" name="Text 29"/>
          <p:cNvSpPr/>
          <p:nvPr/>
        </p:nvSpPr>
        <p:spPr>
          <a:xfrm>
            <a:off x="6373368" y="4206240"/>
            <a:ext cx="4681728" cy="5943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200" dirty="0" err="1">
                <a:solidFill>
                  <a:srgbClr val="CBD5E1"/>
                </a:solidFill>
              </a:rPr>
              <a:t>Trenira</a:t>
            </a:r>
            <a:r>
              <a:rPr lang="en-US" sz="1200" dirty="0">
                <a:solidFill>
                  <a:srgbClr val="CBD5E1"/>
                </a:solidFill>
              </a:rPr>
              <a:t> se </a:t>
            </a:r>
            <a:r>
              <a:rPr lang="en-US" sz="1200" dirty="0" err="1">
                <a:solidFill>
                  <a:srgbClr val="CBD5E1"/>
                </a:solidFill>
              </a:rPr>
              <a:t>samo</a:t>
            </a:r>
            <a:r>
              <a:rPr lang="en-US" sz="1200" dirty="0">
                <a:solidFill>
                  <a:srgbClr val="CBD5E1"/>
                </a:solidFill>
              </a:rPr>
              <a:t> </a:t>
            </a:r>
            <a:r>
              <a:rPr lang="en-US" sz="1200" dirty="0" err="1">
                <a:solidFill>
                  <a:srgbClr val="CBD5E1"/>
                </a:solidFill>
              </a:rPr>
              <a:t>na</a:t>
            </a:r>
            <a:r>
              <a:rPr lang="en-US" sz="1200" dirty="0">
                <a:solidFill>
                  <a:srgbClr val="CBD5E1"/>
                </a:solidFill>
              </a:rPr>
              <a:t> </a:t>
            </a:r>
            <a:r>
              <a:rPr lang="en-US" sz="1200" dirty="0" err="1">
                <a:solidFill>
                  <a:srgbClr val="CBD5E1"/>
                </a:solidFill>
              </a:rPr>
              <a:t>regularnim</a:t>
            </a:r>
            <a:r>
              <a:rPr lang="en-US" sz="1200" dirty="0">
                <a:solidFill>
                  <a:srgbClr val="CBD5E1"/>
                </a:solidFill>
              </a:rPr>
              <a:t> </a:t>
            </a:r>
            <a:r>
              <a:rPr lang="en-US" sz="1200" dirty="0" err="1">
                <a:solidFill>
                  <a:srgbClr val="CBD5E1"/>
                </a:solidFill>
              </a:rPr>
              <a:t>transakcijama</a:t>
            </a:r>
            <a:r>
              <a:rPr lang="en-US" sz="1200" dirty="0">
                <a:solidFill>
                  <a:srgbClr val="CBD5E1"/>
                </a:solidFill>
              </a:rPr>
              <a:t>. Visok reconstruction error → </a:t>
            </a:r>
            <a:r>
              <a:rPr lang="en-US" sz="1200" dirty="0" err="1">
                <a:solidFill>
                  <a:srgbClr val="CBD5E1"/>
                </a:solidFill>
              </a:rPr>
              <a:t>moguća</a:t>
            </a:r>
            <a:r>
              <a:rPr lang="en-US" sz="1200" dirty="0">
                <a:solidFill>
                  <a:srgbClr val="CBD5E1"/>
                </a:solidFill>
              </a:rPr>
              <a:t> </a:t>
            </a:r>
            <a:r>
              <a:rPr lang="en-US" sz="1200" dirty="0" err="1">
                <a:solidFill>
                  <a:srgbClr val="CBD5E1"/>
                </a:solidFill>
              </a:rPr>
              <a:t>anomalija</a:t>
            </a:r>
            <a:r>
              <a:rPr lang="en-US" sz="1200" dirty="0">
                <a:solidFill>
                  <a:srgbClr val="CBD5E1"/>
                </a:solidFill>
              </a:rPr>
              <a:t>/</a:t>
            </a:r>
            <a:r>
              <a:rPr lang="en-US" sz="1200" dirty="0" err="1">
                <a:solidFill>
                  <a:srgbClr val="CBD5E1"/>
                </a:solidFill>
              </a:rPr>
              <a:t>prevara</a:t>
            </a:r>
            <a:r>
              <a:rPr lang="en-US" sz="1200" dirty="0">
                <a:solidFill>
                  <a:srgbClr val="CBD5E1"/>
                </a:solidFill>
              </a:rPr>
              <a:t>.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1005840" y="5257800"/>
            <a:ext cx="10149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8FAFC"/>
                </a:solidFill>
              </a:rPr>
              <a:t>Autoencoder: 30 → 32 → 16 → 8 → 16 → 32 → 30</a:t>
            </a:r>
            <a:endParaRPr lang="en-US" sz="1400" dirty="0"/>
          </a:p>
        </p:txBody>
      </p:sp>
      <p:sp>
        <p:nvSpPr>
          <p:cNvPr id="34" name="Text 32"/>
          <p:cNvSpPr/>
          <p:nvPr/>
        </p:nvSpPr>
        <p:spPr>
          <a:xfrm>
            <a:off x="11475720" y="6473952"/>
            <a:ext cx="4114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22D3EE"/>
                </a:solidFill>
              </a:rPr>
              <a:t>05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B10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020"/>
          </a:solidFill>
          <a:ln w="12700">
            <a:solidFill>
              <a:srgbClr val="0B102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6720840"/>
            <a:ext cx="12191695" cy="137160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502920"/>
            <a:ext cx="594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2D3EE"/>
                </a:solidFill>
              </a:rPr>
              <a:t>04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1115568" y="667512"/>
            <a:ext cx="411480" cy="0"/>
          </a:xfrm>
          <a:prstGeom prst="line">
            <a:avLst/>
          </a:prstGeom>
          <a:noFill/>
          <a:ln w="12700">
            <a:solidFill>
              <a:srgbClr val="33415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600200" y="448056"/>
            <a:ext cx="8961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F8FAFC"/>
                </a:solidFill>
              </a:rPr>
              <a:t>Eksperimentalne konfiguracije</a:t>
            </a:r>
            <a:endParaRPr lang="en-US" sz="1900" dirty="0"/>
          </a:p>
        </p:txBody>
      </p:sp>
      <p:sp>
        <p:nvSpPr>
          <p:cNvPr id="8" name="Text 6"/>
          <p:cNvSpPr/>
          <p:nvPr/>
        </p:nvSpPr>
        <p:spPr>
          <a:xfrm>
            <a:off x="1600200" y="877824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4A3B8"/>
                </a:solidFill>
              </a:rPr>
              <a:t>Baseline, tri MLP </a:t>
            </a:r>
            <a:r>
              <a:rPr lang="en-US" sz="1200" dirty="0" err="1">
                <a:solidFill>
                  <a:srgbClr val="94A3B8"/>
                </a:solidFill>
              </a:rPr>
              <a:t>konfiguracije</a:t>
            </a:r>
            <a:r>
              <a:rPr lang="en-US" sz="1200" dirty="0">
                <a:solidFill>
                  <a:srgbClr val="94A3B8"/>
                </a:solidFill>
              </a:rPr>
              <a:t> </a:t>
            </a:r>
            <a:r>
              <a:rPr lang="en-US" sz="1200" dirty="0" err="1">
                <a:solidFill>
                  <a:srgbClr val="94A3B8"/>
                </a:solidFill>
              </a:rPr>
              <a:t>i</a:t>
            </a:r>
            <a:r>
              <a:rPr lang="en-US" sz="1200" dirty="0">
                <a:solidFill>
                  <a:srgbClr val="94A3B8"/>
                </a:solidFill>
              </a:rPr>
              <a:t> Autoencoder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85800" y="1234440"/>
            <a:ext cx="5074920" cy="1078992"/>
          </a:xfrm>
          <a:prstGeom prst="roundRect">
            <a:avLst>
              <a:gd name="adj" fmla="val 10169"/>
            </a:avLst>
          </a:prstGeom>
          <a:solidFill>
            <a:srgbClr val="172033"/>
          </a:solidFill>
          <a:ln w="12700">
            <a:solidFill>
              <a:srgbClr val="334155">
                <a:alpha val="80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85800" y="1234440"/>
            <a:ext cx="54864" cy="1078992"/>
          </a:xfrm>
          <a:prstGeom prst="rect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86968" y="1399032"/>
            <a:ext cx="472744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8FAFC"/>
                </a:solidFill>
              </a:rPr>
              <a:t>B0  ·  Baseline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886968" y="1737360"/>
            <a:ext cx="4727448" cy="4389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200" dirty="0" err="1">
                <a:solidFill>
                  <a:srgbClr val="CBD5E1"/>
                </a:solidFill>
              </a:rPr>
              <a:t>Sve</a:t>
            </a:r>
            <a:r>
              <a:rPr lang="en-US" sz="1200" dirty="0">
                <a:solidFill>
                  <a:srgbClr val="CBD5E1"/>
                </a:solidFill>
              </a:rPr>
              <a:t> </a:t>
            </a:r>
            <a:r>
              <a:rPr lang="en-US" sz="1200" dirty="0" err="1">
                <a:solidFill>
                  <a:srgbClr val="CBD5E1"/>
                </a:solidFill>
              </a:rPr>
              <a:t>transakcije</a:t>
            </a:r>
            <a:r>
              <a:rPr lang="en-US" sz="1200" dirty="0">
                <a:solidFill>
                  <a:srgbClr val="CBD5E1"/>
                </a:solidFill>
              </a:rPr>
              <a:t> </a:t>
            </a:r>
            <a:r>
              <a:rPr lang="en-US" sz="1200" dirty="0" err="1">
                <a:solidFill>
                  <a:srgbClr val="CBD5E1"/>
                </a:solidFill>
              </a:rPr>
              <a:t>označava</a:t>
            </a:r>
            <a:r>
              <a:rPr lang="en-US" sz="1200" dirty="0">
                <a:solidFill>
                  <a:srgbClr val="CBD5E1"/>
                </a:solidFill>
              </a:rPr>
              <a:t> </a:t>
            </a:r>
            <a:r>
              <a:rPr lang="en-US" sz="1200" dirty="0" err="1">
                <a:solidFill>
                  <a:srgbClr val="CBD5E1"/>
                </a:solidFill>
              </a:rPr>
              <a:t>kao</a:t>
            </a:r>
            <a:r>
              <a:rPr lang="en-US" sz="1200" dirty="0">
                <a:solidFill>
                  <a:srgbClr val="CBD5E1"/>
                </a:solidFill>
              </a:rPr>
              <a:t> </a:t>
            </a:r>
            <a:r>
              <a:rPr lang="en-US" sz="1200" dirty="0" err="1">
                <a:solidFill>
                  <a:srgbClr val="CBD5E1"/>
                </a:solidFill>
              </a:rPr>
              <a:t>regularne</a:t>
            </a:r>
            <a:r>
              <a:rPr lang="en-US" sz="1200" dirty="0">
                <a:solidFill>
                  <a:srgbClr val="CBD5E1"/>
                </a:solidFill>
              </a:rPr>
              <a:t>. </a:t>
            </a:r>
            <a:r>
              <a:rPr lang="en-US" sz="1200" dirty="0" err="1">
                <a:solidFill>
                  <a:srgbClr val="CBD5E1"/>
                </a:solidFill>
              </a:rPr>
              <a:t>Pokazuje</a:t>
            </a:r>
            <a:r>
              <a:rPr lang="en-US" sz="1200" dirty="0">
                <a:solidFill>
                  <a:srgbClr val="CBD5E1"/>
                </a:solidFill>
              </a:rPr>
              <a:t> </a:t>
            </a:r>
            <a:r>
              <a:rPr lang="en-US" sz="1200" dirty="0" err="1">
                <a:solidFill>
                  <a:srgbClr val="CBD5E1"/>
                </a:solidFill>
              </a:rPr>
              <a:t>zašto</a:t>
            </a:r>
            <a:r>
              <a:rPr lang="en-US" sz="1200" dirty="0">
                <a:solidFill>
                  <a:srgbClr val="CBD5E1"/>
                </a:solidFill>
              </a:rPr>
              <a:t> accuracy </a:t>
            </a:r>
            <a:r>
              <a:rPr lang="en-US" sz="1200" dirty="0" err="1">
                <a:solidFill>
                  <a:srgbClr val="CBD5E1"/>
                </a:solidFill>
              </a:rPr>
              <a:t>nije</a:t>
            </a:r>
            <a:r>
              <a:rPr lang="en-US" sz="1200" dirty="0">
                <a:solidFill>
                  <a:srgbClr val="CBD5E1"/>
                </a:solidFill>
              </a:rPr>
              <a:t> </a:t>
            </a:r>
            <a:r>
              <a:rPr lang="en-US" sz="1200" dirty="0" err="1">
                <a:solidFill>
                  <a:srgbClr val="CBD5E1"/>
                </a:solidFill>
              </a:rPr>
              <a:t>dovoljna</a:t>
            </a:r>
            <a:r>
              <a:rPr lang="en-US" sz="1200" dirty="0">
                <a:solidFill>
                  <a:srgbClr val="CBD5E1"/>
                </a:solidFill>
              </a:rPr>
              <a:t>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217920" y="1234440"/>
            <a:ext cx="5074920" cy="1078992"/>
          </a:xfrm>
          <a:prstGeom prst="roundRect">
            <a:avLst>
              <a:gd name="adj" fmla="val 10169"/>
            </a:avLst>
          </a:prstGeom>
          <a:solidFill>
            <a:srgbClr val="172033"/>
          </a:solidFill>
          <a:ln w="12700">
            <a:solidFill>
              <a:srgbClr val="334155">
                <a:alpha val="80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217920" y="1234440"/>
            <a:ext cx="54864" cy="1078992"/>
          </a:xfrm>
          <a:prstGeom prst="rect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19088" y="1399032"/>
            <a:ext cx="472744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8FAFC"/>
                </a:solidFill>
              </a:rPr>
              <a:t>M1  ·  MLP basic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6419088" y="1737360"/>
            <a:ext cx="4727448" cy="4389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200" dirty="0" err="1">
                <a:solidFill>
                  <a:srgbClr val="CBD5E1"/>
                </a:solidFill>
              </a:rPr>
              <a:t>Osnovna</a:t>
            </a:r>
            <a:r>
              <a:rPr lang="en-US" sz="1200" dirty="0">
                <a:solidFill>
                  <a:srgbClr val="CBD5E1"/>
                </a:solidFill>
              </a:rPr>
              <a:t> </a:t>
            </a:r>
            <a:r>
              <a:rPr lang="en-US" sz="1200" dirty="0" err="1">
                <a:solidFill>
                  <a:srgbClr val="CBD5E1"/>
                </a:solidFill>
              </a:rPr>
              <a:t>neuronska</a:t>
            </a:r>
            <a:r>
              <a:rPr lang="en-US" sz="1200" dirty="0">
                <a:solidFill>
                  <a:srgbClr val="CBD5E1"/>
                </a:solidFill>
              </a:rPr>
              <a:t> </a:t>
            </a:r>
            <a:r>
              <a:rPr lang="en-US" sz="1200" dirty="0" err="1">
                <a:solidFill>
                  <a:srgbClr val="CBD5E1"/>
                </a:solidFill>
              </a:rPr>
              <a:t>mreža</a:t>
            </a:r>
            <a:r>
              <a:rPr lang="en-US" sz="1200" dirty="0">
                <a:solidFill>
                  <a:srgbClr val="CBD5E1"/>
                </a:solidFill>
              </a:rPr>
              <a:t> bez </a:t>
            </a:r>
            <a:r>
              <a:rPr lang="en-US" sz="1200" dirty="0" err="1">
                <a:solidFill>
                  <a:srgbClr val="CBD5E1"/>
                </a:solidFill>
              </a:rPr>
              <a:t>class_weight</a:t>
            </a:r>
            <a:r>
              <a:rPr lang="en-US" sz="1200" dirty="0">
                <a:solidFill>
                  <a:srgbClr val="CBD5E1"/>
                </a:solidFill>
              </a:rPr>
              <a:t>. </a:t>
            </a:r>
            <a:r>
              <a:rPr lang="en-US" sz="1200" dirty="0" err="1">
                <a:solidFill>
                  <a:srgbClr val="CBD5E1"/>
                </a:solidFill>
              </a:rPr>
              <a:t>Koristi</a:t>
            </a:r>
            <a:r>
              <a:rPr lang="en-US" sz="1200" dirty="0">
                <a:solidFill>
                  <a:srgbClr val="CBD5E1"/>
                </a:solidFill>
              </a:rPr>
              <a:t> se </a:t>
            </a:r>
            <a:r>
              <a:rPr lang="en-US" sz="1200" dirty="0" err="1">
                <a:solidFill>
                  <a:srgbClr val="CBD5E1"/>
                </a:solidFill>
              </a:rPr>
              <a:t>kao</a:t>
            </a:r>
            <a:r>
              <a:rPr lang="en-US" sz="1200" dirty="0">
                <a:solidFill>
                  <a:srgbClr val="CBD5E1"/>
                </a:solidFill>
              </a:rPr>
              <a:t> supervised baseline.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85800" y="2651760"/>
            <a:ext cx="5074920" cy="1078992"/>
          </a:xfrm>
          <a:prstGeom prst="roundRect">
            <a:avLst>
              <a:gd name="adj" fmla="val 10169"/>
            </a:avLst>
          </a:prstGeom>
          <a:solidFill>
            <a:srgbClr val="172033"/>
          </a:solidFill>
          <a:ln w="12700">
            <a:solidFill>
              <a:srgbClr val="334155">
                <a:alpha val="8000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85800" y="2651760"/>
            <a:ext cx="54864" cy="1078992"/>
          </a:xfrm>
          <a:prstGeom prst="rect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86968" y="2816352"/>
            <a:ext cx="472744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8FAFC"/>
                </a:solidFill>
              </a:rPr>
              <a:t>M2  ·  MLP weighted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886968" y="3154680"/>
            <a:ext cx="4727448" cy="4389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CBD5E1"/>
                </a:solidFill>
              </a:rPr>
              <a:t>Ista </a:t>
            </a:r>
            <a:r>
              <a:rPr lang="en-US" sz="1200" dirty="0" err="1">
                <a:solidFill>
                  <a:srgbClr val="CBD5E1"/>
                </a:solidFill>
              </a:rPr>
              <a:t>arhitektura</a:t>
            </a:r>
            <a:r>
              <a:rPr lang="en-US" sz="1200" dirty="0">
                <a:solidFill>
                  <a:srgbClr val="CBD5E1"/>
                </a:solidFill>
              </a:rPr>
              <a:t> </a:t>
            </a:r>
            <a:r>
              <a:rPr lang="en-US" sz="1200" dirty="0" err="1">
                <a:solidFill>
                  <a:srgbClr val="CBD5E1"/>
                </a:solidFill>
              </a:rPr>
              <a:t>uz</a:t>
            </a:r>
            <a:r>
              <a:rPr lang="en-US" sz="1200" dirty="0">
                <a:solidFill>
                  <a:srgbClr val="CBD5E1"/>
                </a:solidFill>
              </a:rPr>
              <a:t> </a:t>
            </a:r>
            <a:r>
              <a:rPr lang="en-US" sz="1200" dirty="0" err="1">
                <a:solidFill>
                  <a:srgbClr val="CBD5E1"/>
                </a:solidFill>
              </a:rPr>
              <a:t>class_weight</a:t>
            </a:r>
            <a:r>
              <a:rPr lang="en-US" sz="1200" dirty="0">
                <a:solidFill>
                  <a:srgbClr val="CBD5E1"/>
                </a:solidFill>
              </a:rPr>
              <a:t> da se </a:t>
            </a:r>
            <a:r>
              <a:rPr lang="en-US" sz="1200" dirty="0" err="1">
                <a:solidFill>
                  <a:srgbClr val="CBD5E1"/>
                </a:solidFill>
              </a:rPr>
              <a:t>pojača</a:t>
            </a:r>
            <a:r>
              <a:rPr lang="en-US" sz="1200" dirty="0">
                <a:solidFill>
                  <a:srgbClr val="CBD5E1"/>
                </a:solidFill>
              </a:rPr>
              <a:t> </a:t>
            </a:r>
            <a:r>
              <a:rPr lang="en-US" sz="1200" dirty="0" err="1">
                <a:solidFill>
                  <a:srgbClr val="CBD5E1"/>
                </a:solidFill>
              </a:rPr>
              <a:t>značaj</a:t>
            </a:r>
            <a:r>
              <a:rPr lang="en-US" sz="1200" dirty="0">
                <a:solidFill>
                  <a:srgbClr val="CBD5E1"/>
                </a:solidFill>
              </a:rPr>
              <a:t> fraud </a:t>
            </a:r>
            <a:r>
              <a:rPr lang="en-US" sz="1200" dirty="0" err="1">
                <a:solidFill>
                  <a:srgbClr val="CBD5E1"/>
                </a:solidFill>
              </a:rPr>
              <a:t>klase</a:t>
            </a:r>
            <a:r>
              <a:rPr lang="en-US" sz="1200" dirty="0">
                <a:solidFill>
                  <a:srgbClr val="CBD5E1"/>
                </a:solidFill>
              </a:rPr>
              <a:t>.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6217920" y="2651760"/>
            <a:ext cx="5074920" cy="1078992"/>
          </a:xfrm>
          <a:prstGeom prst="roundRect">
            <a:avLst>
              <a:gd name="adj" fmla="val 10169"/>
            </a:avLst>
          </a:prstGeom>
          <a:solidFill>
            <a:srgbClr val="172033"/>
          </a:solidFill>
          <a:ln w="12700">
            <a:solidFill>
              <a:srgbClr val="334155">
                <a:alpha val="8000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217920" y="2651760"/>
            <a:ext cx="54864" cy="1078992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419088" y="2816352"/>
            <a:ext cx="472744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8FAFC"/>
                </a:solidFill>
              </a:rPr>
              <a:t>M3  ·  MLP tuned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6419088" y="3154680"/>
            <a:ext cx="4727448" cy="4389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200" dirty="0" err="1">
                <a:solidFill>
                  <a:srgbClr val="CBD5E1"/>
                </a:solidFill>
              </a:rPr>
              <a:t>Više</a:t>
            </a:r>
            <a:r>
              <a:rPr lang="en-US" sz="1200" dirty="0">
                <a:solidFill>
                  <a:srgbClr val="CBD5E1"/>
                </a:solidFill>
              </a:rPr>
              <a:t> </a:t>
            </a:r>
            <a:r>
              <a:rPr lang="en-US" sz="1200" dirty="0" err="1">
                <a:solidFill>
                  <a:srgbClr val="CBD5E1"/>
                </a:solidFill>
              </a:rPr>
              <a:t>neurona</a:t>
            </a:r>
            <a:r>
              <a:rPr lang="en-US" sz="1200" dirty="0">
                <a:solidFill>
                  <a:srgbClr val="CBD5E1"/>
                </a:solidFill>
              </a:rPr>
              <a:t>, </a:t>
            </a:r>
            <a:r>
              <a:rPr lang="en-US" sz="1200" dirty="0" err="1">
                <a:solidFill>
                  <a:srgbClr val="CBD5E1"/>
                </a:solidFill>
              </a:rPr>
              <a:t>veći</a:t>
            </a:r>
            <a:r>
              <a:rPr lang="en-US" sz="1200" dirty="0">
                <a:solidFill>
                  <a:srgbClr val="CBD5E1"/>
                </a:solidFill>
              </a:rPr>
              <a:t> dropout </a:t>
            </a:r>
            <a:r>
              <a:rPr lang="en-US" sz="1200" dirty="0" err="1">
                <a:solidFill>
                  <a:srgbClr val="CBD5E1"/>
                </a:solidFill>
              </a:rPr>
              <a:t>i</a:t>
            </a:r>
            <a:r>
              <a:rPr lang="en-US" sz="1200" dirty="0">
                <a:solidFill>
                  <a:srgbClr val="CBD5E1"/>
                </a:solidFill>
              </a:rPr>
              <a:t> </a:t>
            </a:r>
            <a:r>
              <a:rPr lang="en-US" sz="1200" dirty="0" err="1">
                <a:solidFill>
                  <a:srgbClr val="CBD5E1"/>
                </a:solidFill>
              </a:rPr>
              <a:t>manji</a:t>
            </a:r>
            <a:r>
              <a:rPr lang="en-US" sz="1200" dirty="0">
                <a:solidFill>
                  <a:srgbClr val="CBD5E1"/>
                </a:solidFill>
              </a:rPr>
              <a:t> learning rate za </a:t>
            </a:r>
            <a:r>
              <a:rPr lang="en-US" sz="1200" dirty="0" err="1">
                <a:solidFill>
                  <a:srgbClr val="CBD5E1"/>
                </a:solidFill>
              </a:rPr>
              <a:t>poređenje</a:t>
            </a:r>
            <a:r>
              <a:rPr lang="en-US" sz="1200" dirty="0">
                <a:solidFill>
                  <a:srgbClr val="CBD5E1"/>
                </a:solidFill>
              </a:rPr>
              <a:t> </a:t>
            </a:r>
            <a:r>
              <a:rPr lang="en-US" sz="1200" dirty="0" err="1">
                <a:solidFill>
                  <a:srgbClr val="CBD5E1"/>
                </a:solidFill>
              </a:rPr>
              <a:t>hiperparametara</a:t>
            </a:r>
            <a:r>
              <a:rPr lang="en-US" sz="1200" dirty="0">
                <a:solidFill>
                  <a:srgbClr val="CBD5E1"/>
                </a:solidFill>
              </a:rPr>
              <a:t>.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685800" y="4069080"/>
            <a:ext cx="10835640" cy="1078992"/>
          </a:xfrm>
          <a:prstGeom prst="roundRect">
            <a:avLst>
              <a:gd name="adj" fmla="val 10169"/>
            </a:avLst>
          </a:prstGeom>
          <a:solidFill>
            <a:srgbClr val="172033"/>
          </a:solidFill>
          <a:ln w="12700">
            <a:solidFill>
              <a:srgbClr val="334155">
                <a:alpha val="80000"/>
              </a:srgbClr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85800" y="4069080"/>
            <a:ext cx="54864" cy="1078992"/>
          </a:xfrm>
          <a:prstGeom prst="rect">
            <a:avLst/>
          </a:prstGeom>
          <a:solidFill>
            <a:srgbClr val="FBBF24"/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886968" y="4233672"/>
            <a:ext cx="1048816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8FAFC"/>
                </a:solidFill>
              </a:rPr>
              <a:t>A1  ·  Autoencoder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886968" y="4572000"/>
            <a:ext cx="10488168" cy="4389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CBD5E1"/>
                </a:solidFill>
              </a:rPr>
              <a:t>Anomaly detection: </a:t>
            </a:r>
            <a:r>
              <a:rPr lang="en-US" sz="1200" dirty="0" err="1">
                <a:solidFill>
                  <a:srgbClr val="CBD5E1"/>
                </a:solidFill>
              </a:rPr>
              <a:t>uči</a:t>
            </a:r>
            <a:r>
              <a:rPr lang="en-US" sz="1200" dirty="0">
                <a:solidFill>
                  <a:srgbClr val="CBD5E1"/>
                </a:solidFill>
              </a:rPr>
              <a:t> </a:t>
            </a:r>
            <a:r>
              <a:rPr lang="en-US" sz="1200" dirty="0" err="1">
                <a:solidFill>
                  <a:srgbClr val="CBD5E1"/>
                </a:solidFill>
              </a:rPr>
              <a:t>normalne</a:t>
            </a:r>
            <a:r>
              <a:rPr lang="en-US" sz="1200" dirty="0">
                <a:solidFill>
                  <a:srgbClr val="CBD5E1"/>
                </a:solidFill>
              </a:rPr>
              <a:t> </a:t>
            </a:r>
            <a:r>
              <a:rPr lang="en-US" sz="1200" dirty="0" err="1">
                <a:solidFill>
                  <a:srgbClr val="CBD5E1"/>
                </a:solidFill>
              </a:rPr>
              <a:t>transakcije</a:t>
            </a:r>
            <a:r>
              <a:rPr lang="en-US" sz="1200" dirty="0">
                <a:solidFill>
                  <a:srgbClr val="CBD5E1"/>
                </a:solidFill>
              </a:rPr>
              <a:t> </a:t>
            </a:r>
            <a:r>
              <a:rPr lang="en-US" sz="1200" dirty="0" err="1">
                <a:solidFill>
                  <a:srgbClr val="CBD5E1"/>
                </a:solidFill>
              </a:rPr>
              <a:t>i</a:t>
            </a:r>
            <a:r>
              <a:rPr lang="en-US" sz="1200" dirty="0">
                <a:solidFill>
                  <a:srgbClr val="CBD5E1"/>
                </a:solidFill>
              </a:rPr>
              <a:t> meri reconstruction error.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11475720" y="6473952"/>
            <a:ext cx="4114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22D3EE"/>
                </a:solidFill>
              </a:rPr>
              <a:t>06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B10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020"/>
          </a:solidFill>
          <a:ln w="12700">
            <a:solidFill>
              <a:srgbClr val="0B102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6720840"/>
            <a:ext cx="12191695" cy="137160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502920"/>
            <a:ext cx="594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2D3EE"/>
                </a:solidFill>
              </a:rPr>
              <a:t>05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1115568" y="667512"/>
            <a:ext cx="411480" cy="0"/>
          </a:xfrm>
          <a:prstGeom prst="line">
            <a:avLst/>
          </a:prstGeom>
          <a:noFill/>
          <a:ln w="12700">
            <a:solidFill>
              <a:srgbClr val="33415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600200" y="448056"/>
            <a:ext cx="8961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F8FAFC"/>
                </a:solidFill>
              </a:rPr>
              <a:t>Evaluacija &amp; Rezultati</a:t>
            </a:r>
            <a:endParaRPr lang="en-US" sz="19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94731952"/>
              </p:ext>
            </p:extLst>
          </p:nvPr>
        </p:nvGraphicFramePr>
        <p:xfrm>
          <a:off x="731520" y="1743414"/>
          <a:ext cx="6217920" cy="2468880"/>
        </p:xfrm>
        <a:graphic>
          <a:graphicData uri="http://schemas.openxmlformats.org/drawingml/2006/table">
            <a:tbl>
              <a:tblPr/>
              <a:tblGrid>
                <a:gridCol w="15544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801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058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23444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4114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Model</a:t>
                      </a:r>
                      <a:endParaRPr lang="en-US" sz="1400"/>
                    </a:p>
                  </a:txBody>
                  <a:tcPr marL="45720" marR="45720">
                    <a:lnL w="762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93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Precision</a:t>
                      </a:r>
                      <a:endParaRPr lang="en-US" sz="1400"/>
                    </a:p>
                  </a:txBody>
                  <a:tcPr marL="45720" marR="45720">
                    <a:lnL w="762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93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Recall</a:t>
                      </a:r>
                      <a:endParaRPr lang="en-US" sz="1400"/>
                    </a:p>
                  </a:txBody>
                  <a:tcPr marL="45720" marR="45720">
                    <a:lnL w="762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93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F1</a:t>
                      </a:r>
                      <a:endParaRPr lang="en-US" sz="1400"/>
                    </a:p>
                  </a:txBody>
                  <a:tcPr marL="45720" marR="45720">
                    <a:lnL w="762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93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PR-AUC</a:t>
                      </a:r>
                      <a:endParaRPr lang="en-US" sz="1400"/>
                    </a:p>
                  </a:txBody>
                  <a:tcPr marL="45720" marR="45720">
                    <a:lnL w="762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93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F8FAFC"/>
                          </a:solidFill>
                        </a:rPr>
                        <a:t>Baseline</a:t>
                      </a:r>
                      <a:endParaRPr lang="en-US" sz="1200"/>
                    </a:p>
                  </a:txBody>
                  <a:tcPr marL="45720" marR="45720">
                    <a:lnL w="762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203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F8FAFC"/>
                          </a:solidFill>
                        </a:rPr>
                        <a:t>0.00</a:t>
                      </a:r>
                      <a:endParaRPr lang="en-US" sz="1200"/>
                    </a:p>
                  </a:txBody>
                  <a:tcPr marL="45720" marR="45720">
                    <a:lnL w="762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203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F8FAFC"/>
                          </a:solidFill>
                        </a:rPr>
                        <a:t>0.00</a:t>
                      </a:r>
                      <a:endParaRPr lang="en-US" sz="1200"/>
                    </a:p>
                  </a:txBody>
                  <a:tcPr marL="45720" marR="45720">
                    <a:lnL w="762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203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F8FAFC"/>
                          </a:solidFill>
                        </a:rPr>
                        <a:t>0.00</a:t>
                      </a:r>
                      <a:endParaRPr lang="en-US" sz="1200"/>
                    </a:p>
                  </a:txBody>
                  <a:tcPr marL="45720" marR="45720">
                    <a:lnL w="762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203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lang="en-US" sz="1200" b="0" i="0" u="none" strike="noStrike" noProof="0">
                          <a:solidFill>
                            <a:srgbClr val="E3E3E3"/>
                          </a:solidFill>
                          <a:latin typeface="Aptos"/>
                        </a:rPr>
                        <a:t>0.001738</a:t>
                      </a:r>
                      <a:endParaRPr lang="sr-Latn-RS" sz="1200"/>
                    </a:p>
                  </a:txBody>
                  <a:tcPr marL="45720" marR="45720">
                    <a:lnL w="762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20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F8FAFC"/>
                          </a:solidFill>
                        </a:rPr>
                        <a:t>MLP basic</a:t>
                      </a:r>
                      <a:endParaRPr lang="en-US" sz="1200"/>
                    </a:p>
                  </a:txBody>
                  <a:tcPr marL="45720" marR="45720">
                    <a:lnL w="762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203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>
                          <a:solidFill>
                            <a:srgbClr val="F8FAFC"/>
                          </a:solidFill>
                        </a:rPr>
                        <a:t>0.842105</a:t>
                      </a:r>
                    </a:p>
                  </a:txBody>
                  <a:tcPr marL="45720" marR="45720">
                    <a:lnL w="762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203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>
                          <a:solidFill>
                            <a:srgbClr val="F8FAFC"/>
                          </a:solidFill>
                        </a:rPr>
                        <a:t>0.808081</a:t>
                      </a:r>
                      <a:endParaRPr lang="en-US" sz="1200" dirty="0">
                        <a:solidFill>
                          <a:srgbClr val="F8FAFC"/>
                        </a:solidFill>
                      </a:endParaRPr>
                    </a:p>
                  </a:txBody>
                  <a:tcPr marL="45720" marR="45720">
                    <a:lnL w="762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203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>
                          <a:solidFill>
                            <a:srgbClr val="F8FAFC"/>
                          </a:solidFill>
                        </a:rPr>
                        <a:t>0.824742</a:t>
                      </a:r>
                    </a:p>
                  </a:txBody>
                  <a:tcPr marL="45720" marR="45720">
                    <a:lnL w="762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203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lang="en-US" sz="1200" b="0" i="0" u="none" strike="noStrike" noProof="0">
                          <a:solidFill>
                            <a:srgbClr val="E3E3E3"/>
                          </a:solidFill>
                          <a:latin typeface="Aptos"/>
                        </a:rPr>
                        <a:t>0.834066</a:t>
                      </a:r>
                      <a:endParaRPr lang="sr-Latn-RS" sz="1200"/>
                    </a:p>
                  </a:txBody>
                  <a:tcPr marL="45720" marR="45720">
                    <a:lnL w="762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20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F8FAFC"/>
                          </a:solidFill>
                        </a:rPr>
                        <a:t>MLP weighted</a:t>
                      </a:r>
                      <a:endParaRPr lang="en-US" sz="1200"/>
                    </a:p>
                  </a:txBody>
                  <a:tcPr marL="45720" marR="45720">
                    <a:lnL w="762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203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>
                          <a:solidFill>
                            <a:srgbClr val="F8FAFC"/>
                          </a:solidFill>
                        </a:rPr>
                        <a:t>0.692308</a:t>
                      </a:r>
                      <a:endParaRPr lang="en-US" sz="1200" dirty="0">
                        <a:solidFill>
                          <a:srgbClr val="F8FAFC"/>
                        </a:solidFill>
                      </a:endParaRPr>
                    </a:p>
                  </a:txBody>
                  <a:tcPr marL="45720" marR="45720">
                    <a:lnL w="762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203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>
                          <a:solidFill>
                            <a:srgbClr val="F8FAFC"/>
                          </a:solidFill>
                        </a:rPr>
                        <a:t>0.818182</a:t>
                      </a:r>
                    </a:p>
                  </a:txBody>
                  <a:tcPr marL="45720" marR="45720">
                    <a:lnL w="762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203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>
                          <a:solidFill>
                            <a:srgbClr val="F8FAFC"/>
                          </a:solidFill>
                        </a:rPr>
                        <a:t>0.75</a:t>
                      </a:r>
                    </a:p>
                  </a:txBody>
                  <a:tcPr marL="45720" marR="45720">
                    <a:lnL w="762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203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lang="en-US" sz="1200" b="0" i="0" u="none" strike="noStrike" noProof="0">
                          <a:solidFill>
                            <a:srgbClr val="E3E3E3"/>
                          </a:solidFill>
                          <a:latin typeface="Aptos"/>
                        </a:rPr>
                        <a:t>0.716121</a:t>
                      </a:r>
                      <a:endParaRPr lang="sr-Latn-RS" sz="1200"/>
                    </a:p>
                  </a:txBody>
                  <a:tcPr marL="45720" marR="45720">
                    <a:lnL w="762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20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F8FAFC"/>
                          </a:solidFill>
                        </a:rPr>
                        <a:t>MLP tuned</a:t>
                      </a:r>
                      <a:endParaRPr lang="en-US" sz="1200"/>
                    </a:p>
                  </a:txBody>
                  <a:tcPr marL="45720" marR="45720">
                    <a:lnL w="762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203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>
                          <a:solidFill>
                            <a:srgbClr val="F8FAFC"/>
                          </a:solidFill>
                        </a:rPr>
                        <a:t>0.833333</a:t>
                      </a:r>
                      <a:endParaRPr lang="en-US" sz="1200" dirty="0">
                        <a:solidFill>
                          <a:srgbClr val="F8FAFC"/>
                        </a:solidFill>
                      </a:endParaRPr>
                    </a:p>
                  </a:txBody>
                  <a:tcPr marL="45720" marR="45720">
                    <a:lnL w="762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203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>
                          <a:solidFill>
                            <a:srgbClr val="F8FAFC"/>
                          </a:solidFill>
                        </a:rPr>
                        <a:t>0.757576</a:t>
                      </a:r>
                      <a:endParaRPr lang="en-US" sz="1200" dirty="0">
                        <a:solidFill>
                          <a:srgbClr val="F8FAFC"/>
                        </a:solidFill>
                      </a:endParaRPr>
                    </a:p>
                  </a:txBody>
                  <a:tcPr marL="45720" marR="45720">
                    <a:lnL w="762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203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>
                          <a:solidFill>
                            <a:srgbClr val="F8FAFC"/>
                          </a:solidFill>
                        </a:rPr>
                        <a:t>0.793651</a:t>
                      </a:r>
                      <a:endParaRPr lang="en-US" sz="1200" dirty="0">
                        <a:solidFill>
                          <a:srgbClr val="F8FAFC"/>
                        </a:solidFill>
                      </a:endParaRPr>
                    </a:p>
                  </a:txBody>
                  <a:tcPr marL="45720" marR="45720">
                    <a:lnL w="762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203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lang="en-US" sz="1200" b="0" i="0" u="none" strike="noStrike" noProof="0">
                          <a:solidFill>
                            <a:srgbClr val="E3E3E3"/>
                          </a:solidFill>
                          <a:latin typeface="Aptos"/>
                        </a:rPr>
                        <a:t>0.740445</a:t>
                      </a:r>
                      <a:endParaRPr lang="sr-Latn-RS" sz="1200"/>
                    </a:p>
                  </a:txBody>
                  <a:tcPr marL="45720" marR="45720">
                    <a:lnL w="762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20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F8FAFC"/>
                          </a:solidFill>
                        </a:rPr>
                        <a:t>Autoencoder</a:t>
                      </a:r>
                      <a:endParaRPr lang="en-US" sz="1200"/>
                    </a:p>
                  </a:txBody>
                  <a:tcPr marL="45720" marR="45720">
                    <a:lnL w="762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203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>
                          <a:solidFill>
                            <a:srgbClr val="F8FAFC"/>
                          </a:solidFill>
                        </a:rPr>
                        <a:t>0.523438</a:t>
                      </a:r>
                    </a:p>
                  </a:txBody>
                  <a:tcPr marL="45720" marR="45720">
                    <a:lnL w="762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203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>
                          <a:solidFill>
                            <a:srgbClr val="F8FAFC"/>
                          </a:solidFill>
                        </a:rPr>
                        <a:t>0.676768</a:t>
                      </a:r>
                      <a:endParaRPr lang="en-US" sz="1200" dirty="0">
                        <a:solidFill>
                          <a:srgbClr val="F8FAFC"/>
                        </a:solidFill>
                      </a:endParaRPr>
                    </a:p>
                  </a:txBody>
                  <a:tcPr marL="45720" marR="45720">
                    <a:lnL w="762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203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>
                          <a:solidFill>
                            <a:srgbClr val="F8FAFC"/>
                          </a:solidFill>
                        </a:rPr>
                        <a:t>0.590308</a:t>
                      </a:r>
                      <a:endParaRPr lang="en-US" sz="1200" dirty="0">
                        <a:solidFill>
                          <a:srgbClr val="F8FAFC"/>
                        </a:solidFill>
                      </a:endParaRPr>
                    </a:p>
                  </a:txBody>
                  <a:tcPr marL="45720" marR="45720">
                    <a:lnL w="762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203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lang="en-US" sz="1200" b="0" i="0" u="none" strike="noStrike" noProof="0">
                          <a:solidFill>
                            <a:srgbClr val="E3E3E3"/>
                          </a:solidFill>
                          <a:latin typeface="Aptos"/>
                        </a:rPr>
                        <a:t>0.601954</a:t>
                      </a:r>
                      <a:endParaRPr lang="sr-Latn-RS" sz="1200"/>
                    </a:p>
                  </a:txBody>
                  <a:tcPr marL="45720" marR="45720">
                    <a:lnL w="762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20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10" name="Shape 7"/>
          <p:cNvSpPr/>
          <p:nvPr/>
        </p:nvSpPr>
        <p:spPr>
          <a:xfrm>
            <a:off x="8138160" y="1325880"/>
            <a:ext cx="3246120" cy="1051560"/>
          </a:xfrm>
          <a:prstGeom prst="roundRect">
            <a:avLst>
              <a:gd name="adj" fmla="val 10435"/>
            </a:avLst>
          </a:prstGeom>
          <a:solidFill>
            <a:srgbClr val="172033"/>
          </a:solidFill>
          <a:ln w="12700">
            <a:solidFill>
              <a:srgbClr val="334155">
                <a:alpha val="80000"/>
              </a:srgbClr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8138160" y="1325880"/>
            <a:ext cx="54864" cy="1051560"/>
          </a:xfrm>
          <a:prstGeom prst="rect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8339328" y="1490472"/>
            <a:ext cx="289864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8FAFC"/>
                </a:solidFill>
              </a:rPr>
              <a:t>Precision</a:t>
            </a:r>
            <a:endParaRPr lang="en-US" sz="1400" dirty="0"/>
          </a:p>
        </p:txBody>
      </p:sp>
      <p:sp>
        <p:nvSpPr>
          <p:cNvPr id="13" name="Text 10"/>
          <p:cNvSpPr/>
          <p:nvPr/>
        </p:nvSpPr>
        <p:spPr>
          <a:xfrm>
            <a:off x="8339328" y="1828800"/>
            <a:ext cx="2898648" cy="4114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CBD5E1"/>
                </a:solidFill>
              </a:rPr>
              <a:t>Od </a:t>
            </a:r>
            <a:r>
              <a:rPr lang="en-US" sz="1200" dirty="0" err="1">
                <a:solidFill>
                  <a:srgbClr val="CBD5E1"/>
                </a:solidFill>
              </a:rPr>
              <a:t>svega</a:t>
            </a:r>
            <a:r>
              <a:rPr lang="en-US" sz="1200" dirty="0">
                <a:solidFill>
                  <a:srgbClr val="CBD5E1"/>
                </a:solidFill>
              </a:rPr>
              <a:t> </a:t>
            </a:r>
            <a:r>
              <a:rPr lang="en-US" sz="1200" dirty="0" err="1">
                <a:solidFill>
                  <a:srgbClr val="CBD5E1"/>
                </a:solidFill>
              </a:rPr>
              <a:t>što</a:t>
            </a:r>
            <a:r>
              <a:rPr lang="en-US" sz="1200" dirty="0">
                <a:solidFill>
                  <a:srgbClr val="CBD5E1"/>
                </a:solidFill>
              </a:rPr>
              <a:t> model </a:t>
            </a:r>
            <a:r>
              <a:rPr lang="en-US" sz="1200" dirty="0" err="1">
                <a:solidFill>
                  <a:srgbClr val="CBD5E1"/>
                </a:solidFill>
              </a:rPr>
              <a:t>označi</a:t>
            </a:r>
            <a:r>
              <a:rPr lang="en-US" sz="1200" dirty="0">
                <a:solidFill>
                  <a:srgbClr val="CBD5E1"/>
                </a:solidFill>
              </a:rPr>
              <a:t> </a:t>
            </a:r>
            <a:r>
              <a:rPr lang="en-US" sz="1200" dirty="0" err="1">
                <a:solidFill>
                  <a:srgbClr val="CBD5E1"/>
                </a:solidFill>
              </a:rPr>
              <a:t>kao</a:t>
            </a:r>
            <a:r>
              <a:rPr lang="en-US" sz="1200" dirty="0">
                <a:solidFill>
                  <a:srgbClr val="CBD5E1"/>
                </a:solidFill>
              </a:rPr>
              <a:t> </a:t>
            </a:r>
            <a:r>
              <a:rPr lang="en-US" sz="1200" dirty="0" err="1">
                <a:solidFill>
                  <a:srgbClr val="CBD5E1"/>
                </a:solidFill>
              </a:rPr>
              <a:t>prevaru</a:t>
            </a:r>
            <a:r>
              <a:rPr lang="en-US" sz="1200" dirty="0">
                <a:solidFill>
                  <a:srgbClr val="CBD5E1"/>
                </a:solidFill>
              </a:rPr>
              <a:t> — </a:t>
            </a:r>
            <a:r>
              <a:rPr lang="en-US" sz="1200" dirty="0" err="1">
                <a:solidFill>
                  <a:srgbClr val="CBD5E1"/>
                </a:solidFill>
              </a:rPr>
              <a:t>koliko</a:t>
            </a:r>
            <a:r>
              <a:rPr lang="en-US" sz="1200" dirty="0">
                <a:solidFill>
                  <a:srgbClr val="CBD5E1"/>
                </a:solidFill>
              </a:rPr>
              <a:t> je </a:t>
            </a:r>
            <a:r>
              <a:rPr lang="en-US" sz="1200" dirty="0" err="1">
                <a:solidFill>
                  <a:srgbClr val="CBD5E1"/>
                </a:solidFill>
              </a:rPr>
              <a:t>zaista</a:t>
            </a:r>
            <a:r>
              <a:rPr lang="en-US" sz="1200" dirty="0">
                <a:solidFill>
                  <a:srgbClr val="CBD5E1"/>
                </a:solidFill>
              </a:rPr>
              <a:t> </a:t>
            </a:r>
            <a:r>
              <a:rPr lang="en-US" sz="1200" dirty="0" err="1">
                <a:solidFill>
                  <a:srgbClr val="CBD5E1"/>
                </a:solidFill>
              </a:rPr>
              <a:t>prevara</a:t>
            </a:r>
            <a:r>
              <a:rPr lang="en-US" sz="1200" dirty="0">
                <a:solidFill>
                  <a:srgbClr val="CBD5E1"/>
                </a:solidFill>
              </a:rPr>
              <a:t>.</a:t>
            </a:r>
            <a:endParaRPr lang="en-US" sz="900" dirty="0"/>
          </a:p>
        </p:txBody>
      </p:sp>
      <p:sp>
        <p:nvSpPr>
          <p:cNvPr id="14" name="Shape 11"/>
          <p:cNvSpPr/>
          <p:nvPr/>
        </p:nvSpPr>
        <p:spPr>
          <a:xfrm>
            <a:off x="8138160" y="2578608"/>
            <a:ext cx="3246120" cy="1051560"/>
          </a:xfrm>
          <a:prstGeom prst="roundRect">
            <a:avLst>
              <a:gd name="adj" fmla="val 10435"/>
            </a:avLst>
          </a:prstGeom>
          <a:solidFill>
            <a:srgbClr val="172033"/>
          </a:solidFill>
          <a:ln w="12700">
            <a:solidFill>
              <a:srgbClr val="334155">
                <a:alpha val="80000"/>
              </a:srgbClr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8138160" y="2578608"/>
            <a:ext cx="54864" cy="1051560"/>
          </a:xfrm>
          <a:prstGeom prst="rect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8339328" y="2743200"/>
            <a:ext cx="289864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8FAFC"/>
                </a:solidFill>
              </a:rPr>
              <a:t>Recall</a:t>
            </a:r>
            <a:endParaRPr lang="en-US" sz="1400" dirty="0"/>
          </a:p>
        </p:txBody>
      </p:sp>
      <p:sp>
        <p:nvSpPr>
          <p:cNvPr id="17" name="Text 14"/>
          <p:cNvSpPr/>
          <p:nvPr/>
        </p:nvSpPr>
        <p:spPr>
          <a:xfrm>
            <a:off x="8339328" y="3081528"/>
            <a:ext cx="2898648" cy="4114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CBD5E1"/>
                </a:solidFill>
              </a:rPr>
              <a:t>Od </a:t>
            </a:r>
            <a:r>
              <a:rPr lang="en-US" sz="1200" dirty="0" err="1">
                <a:solidFill>
                  <a:srgbClr val="CBD5E1"/>
                </a:solidFill>
              </a:rPr>
              <a:t>svih</a:t>
            </a:r>
            <a:r>
              <a:rPr lang="en-US" sz="1200" dirty="0">
                <a:solidFill>
                  <a:srgbClr val="CBD5E1"/>
                </a:solidFill>
              </a:rPr>
              <a:t> </a:t>
            </a:r>
            <a:r>
              <a:rPr lang="en-US" sz="1200" dirty="0" err="1">
                <a:solidFill>
                  <a:srgbClr val="CBD5E1"/>
                </a:solidFill>
              </a:rPr>
              <a:t>stvarnih</a:t>
            </a:r>
            <a:r>
              <a:rPr lang="en-US" sz="1200" dirty="0">
                <a:solidFill>
                  <a:srgbClr val="CBD5E1"/>
                </a:solidFill>
              </a:rPr>
              <a:t> </a:t>
            </a:r>
            <a:r>
              <a:rPr lang="en-US" sz="1200" dirty="0" err="1">
                <a:solidFill>
                  <a:srgbClr val="CBD5E1"/>
                </a:solidFill>
              </a:rPr>
              <a:t>prevara</a:t>
            </a:r>
            <a:r>
              <a:rPr lang="en-US" sz="1200" dirty="0">
                <a:solidFill>
                  <a:srgbClr val="CBD5E1"/>
                </a:solidFill>
              </a:rPr>
              <a:t> — </a:t>
            </a:r>
            <a:r>
              <a:rPr lang="en-US" sz="1200" dirty="0" err="1">
                <a:solidFill>
                  <a:srgbClr val="CBD5E1"/>
                </a:solidFill>
              </a:rPr>
              <a:t>koliko</a:t>
            </a:r>
            <a:r>
              <a:rPr lang="en-US" sz="1200" dirty="0">
                <a:solidFill>
                  <a:srgbClr val="CBD5E1"/>
                </a:solidFill>
              </a:rPr>
              <a:t> </a:t>
            </a:r>
            <a:r>
              <a:rPr lang="en-US" sz="1200" dirty="0" err="1">
                <a:solidFill>
                  <a:srgbClr val="CBD5E1"/>
                </a:solidFill>
              </a:rPr>
              <a:t>ih</a:t>
            </a:r>
            <a:r>
              <a:rPr lang="en-US" sz="1200" dirty="0">
                <a:solidFill>
                  <a:srgbClr val="CBD5E1"/>
                </a:solidFill>
              </a:rPr>
              <a:t> je model </a:t>
            </a:r>
            <a:r>
              <a:rPr lang="en-US" sz="1200" dirty="0" err="1">
                <a:solidFill>
                  <a:srgbClr val="CBD5E1"/>
                </a:solidFill>
              </a:rPr>
              <a:t>pronašao</a:t>
            </a:r>
            <a:r>
              <a:rPr lang="en-US" sz="1200" dirty="0">
                <a:solidFill>
                  <a:srgbClr val="CBD5E1"/>
                </a:solidFill>
              </a:rPr>
              <a:t>.</a:t>
            </a:r>
            <a:endParaRPr lang="en-US" sz="1200" dirty="0"/>
          </a:p>
        </p:txBody>
      </p:sp>
      <p:sp>
        <p:nvSpPr>
          <p:cNvPr id="18" name="Shape 15"/>
          <p:cNvSpPr/>
          <p:nvPr/>
        </p:nvSpPr>
        <p:spPr>
          <a:xfrm>
            <a:off x="8138160" y="3822192"/>
            <a:ext cx="3246120" cy="1051560"/>
          </a:xfrm>
          <a:prstGeom prst="roundRect">
            <a:avLst>
              <a:gd name="adj" fmla="val 10435"/>
            </a:avLst>
          </a:prstGeom>
          <a:solidFill>
            <a:srgbClr val="172033"/>
          </a:solidFill>
          <a:ln w="12700">
            <a:solidFill>
              <a:srgbClr val="334155">
                <a:alpha val="80000"/>
              </a:srgbClr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8138160" y="3822192"/>
            <a:ext cx="54864" cy="1051560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8339328" y="3986784"/>
            <a:ext cx="289864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8FAFC"/>
                </a:solidFill>
              </a:rPr>
              <a:t>F1 / PR-AUC</a:t>
            </a:r>
            <a:endParaRPr lang="en-US" sz="1400" dirty="0"/>
          </a:p>
        </p:txBody>
      </p:sp>
      <p:sp>
        <p:nvSpPr>
          <p:cNvPr id="21" name="Text 18"/>
          <p:cNvSpPr/>
          <p:nvPr/>
        </p:nvSpPr>
        <p:spPr>
          <a:xfrm>
            <a:off x="8339328" y="4325112"/>
            <a:ext cx="2898648" cy="4114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200" dirty="0" err="1">
                <a:solidFill>
                  <a:srgbClr val="CBD5E1"/>
                </a:solidFill>
              </a:rPr>
              <a:t>Bolje</a:t>
            </a:r>
            <a:r>
              <a:rPr lang="en-US" sz="1200" dirty="0">
                <a:solidFill>
                  <a:srgbClr val="CBD5E1"/>
                </a:solidFill>
              </a:rPr>
              <a:t> </a:t>
            </a:r>
            <a:r>
              <a:rPr lang="en-US" sz="1200" dirty="0" err="1">
                <a:solidFill>
                  <a:srgbClr val="CBD5E1"/>
                </a:solidFill>
              </a:rPr>
              <a:t>metrike</a:t>
            </a:r>
            <a:r>
              <a:rPr lang="en-US" sz="1200" dirty="0">
                <a:solidFill>
                  <a:srgbClr val="CBD5E1"/>
                </a:solidFill>
              </a:rPr>
              <a:t> od accuracy </a:t>
            </a:r>
            <a:r>
              <a:rPr lang="en-US" sz="1200" dirty="0" err="1">
                <a:solidFill>
                  <a:srgbClr val="CBD5E1"/>
                </a:solidFill>
              </a:rPr>
              <a:t>kod</a:t>
            </a:r>
            <a:r>
              <a:rPr lang="en-US" sz="1200" dirty="0">
                <a:solidFill>
                  <a:srgbClr val="CBD5E1"/>
                </a:solidFill>
              </a:rPr>
              <a:t> </a:t>
            </a:r>
            <a:r>
              <a:rPr lang="en-US" sz="1200" dirty="0" err="1">
                <a:solidFill>
                  <a:srgbClr val="CBD5E1"/>
                </a:solidFill>
              </a:rPr>
              <a:t>ekstremno</a:t>
            </a:r>
            <a:r>
              <a:rPr lang="en-US" sz="1200" dirty="0">
                <a:solidFill>
                  <a:srgbClr val="CBD5E1"/>
                </a:solidFill>
              </a:rPr>
              <a:t> </a:t>
            </a:r>
            <a:r>
              <a:rPr lang="en-US" sz="1200" dirty="0" err="1">
                <a:solidFill>
                  <a:srgbClr val="CBD5E1"/>
                </a:solidFill>
              </a:rPr>
              <a:t>nebalansiranog</a:t>
            </a:r>
            <a:r>
              <a:rPr lang="en-US" sz="1200" dirty="0">
                <a:solidFill>
                  <a:srgbClr val="CBD5E1"/>
                </a:solidFill>
              </a:rPr>
              <a:t> </a:t>
            </a:r>
            <a:r>
              <a:rPr lang="en-US" sz="1200" dirty="0" err="1">
                <a:solidFill>
                  <a:srgbClr val="CBD5E1"/>
                </a:solidFill>
              </a:rPr>
              <a:t>dataseta</a:t>
            </a:r>
            <a:r>
              <a:rPr lang="en-US" sz="1200" dirty="0">
                <a:solidFill>
                  <a:srgbClr val="CBD5E1"/>
                </a:solidFill>
              </a:rPr>
              <a:t>.</a:t>
            </a:r>
            <a:endParaRPr lang="en-US" sz="1200" dirty="0"/>
          </a:p>
        </p:txBody>
      </p:sp>
      <p:sp>
        <p:nvSpPr>
          <p:cNvPr id="24" name="Text 21"/>
          <p:cNvSpPr/>
          <p:nvPr/>
        </p:nvSpPr>
        <p:spPr>
          <a:xfrm>
            <a:off x="11475720" y="6473952"/>
            <a:ext cx="4114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22D3EE"/>
                </a:solidFill>
              </a:rPr>
              <a:t>07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B10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020"/>
          </a:solidFill>
          <a:ln w="12700">
            <a:solidFill>
              <a:srgbClr val="0B102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6720840"/>
            <a:ext cx="12191695" cy="137160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502920"/>
            <a:ext cx="594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2D3EE"/>
                </a:solidFill>
              </a:rPr>
              <a:t>06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1115568" y="667512"/>
            <a:ext cx="411480" cy="0"/>
          </a:xfrm>
          <a:prstGeom prst="line">
            <a:avLst/>
          </a:prstGeom>
          <a:noFill/>
          <a:ln w="12700">
            <a:solidFill>
              <a:srgbClr val="33415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600200" y="448056"/>
            <a:ext cx="8961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r>
              <a:rPr sz="2300" b="1">
                <a:solidFill>
                  <a:srgbClr val="F5F8FF"/>
                </a:solidFill>
              </a:rPr>
              <a:t>Threshold analiza i osetljivost — konkretna interpretacija</a:t>
            </a:r>
          </a:p>
        </p:txBody>
      </p:sp>
      <p:sp>
        <p:nvSpPr>
          <p:cNvPr id="9" name="Shape 7"/>
          <p:cNvSpPr/>
          <p:nvPr/>
        </p:nvSpPr>
        <p:spPr>
          <a:xfrm>
            <a:off x="777240" y="1234440"/>
            <a:ext cx="5257800" cy="1874520"/>
          </a:xfrm>
          <a:prstGeom prst="roundRect">
            <a:avLst>
              <a:gd name="adj" fmla="val 5854"/>
            </a:avLst>
          </a:prstGeom>
          <a:solidFill>
            <a:srgbClr val="172033"/>
          </a:solidFill>
          <a:ln w="12700">
            <a:solidFill>
              <a:srgbClr val="334155">
                <a:alpha val="80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77240" y="1234440"/>
            <a:ext cx="54864" cy="1874520"/>
          </a:xfrm>
          <a:prstGeom prst="rect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78408" y="1399032"/>
            <a:ext cx="491032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r>
              <a:rPr sz="1500" b="1">
                <a:solidFill>
                  <a:srgbClr val="F5F8FF"/>
                </a:solidFill>
              </a:rPr>
              <a:t>Threshold trade-off</a:t>
            </a:r>
          </a:p>
        </p:txBody>
      </p:sp>
      <p:sp>
        <p:nvSpPr>
          <p:cNvPr id="12" name="Text 10"/>
          <p:cNvSpPr/>
          <p:nvPr/>
        </p:nvSpPr>
        <p:spPr>
          <a:xfrm>
            <a:off x="978408" y="1737360"/>
            <a:ext cx="4910328" cy="12344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r>
              <a:rPr sz="1100">
                <a:solidFill>
                  <a:srgbClr val="D2DAE8"/>
                </a:solidFill>
              </a:rPr>
              <a:t>Model vraća risk score između 0 i 1, a threshold odlučuje kada transakcija postaje prevara.</a:t>
            </a:r>
          </a:p>
          <a:p>
            <a:endParaRPr sz="1100">
              <a:solidFill>
                <a:srgbClr val="D2DAE8"/>
              </a:solidFill>
            </a:endParaRPr>
          </a:p>
          <a:p>
            <a:r>
              <a:rPr sz="1100">
                <a:solidFill>
                  <a:srgbClr val="D2DAE8"/>
                </a:solidFill>
              </a:rPr>
              <a:t>Weighted MLP: Recall 0.818 &gt; Basic 0.808, ali Precision 0.692 &lt; 0.842.</a:t>
            </a:r>
          </a:p>
          <a:p>
            <a:r>
              <a:rPr sz="1100">
                <a:solidFill>
                  <a:srgbClr val="D2DAE8"/>
                </a:solidFill>
              </a:rPr>
              <a:t>Zaključak: hvata malo više prevara, ali pravi više lažnih uzbuna.</a:t>
            </a:r>
          </a:p>
        </p:txBody>
      </p:sp>
      <p:sp>
        <p:nvSpPr>
          <p:cNvPr id="13" name="Shape 11"/>
          <p:cNvSpPr/>
          <p:nvPr/>
        </p:nvSpPr>
        <p:spPr>
          <a:xfrm>
            <a:off x="6355080" y="1234440"/>
            <a:ext cx="5074920" cy="1874520"/>
          </a:xfrm>
          <a:prstGeom prst="roundRect">
            <a:avLst>
              <a:gd name="adj" fmla="val 5854"/>
            </a:avLst>
          </a:prstGeom>
          <a:solidFill>
            <a:srgbClr val="172033"/>
          </a:solidFill>
          <a:ln w="12700">
            <a:solidFill>
              <a:srgbClr val="334155">
                <a:alpha val="80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355080" y="1234440"/>
            <a:ext cx="54864" cy="1874520"/>
          </a:xfrm>
          <a:prstGeom prst="rect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556248" y="1399032"/>
            <a:ext cx="472744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r>
              <a:rPr sz="1500" b="1">
                <a:solidFill>
                  <a:srgbClr val="F5F8FF"/>
                </a:solidFill>
              </a:rPr>
              <a:t>ROC-AUC nije dovoljan</a:t>
            </a:r>
          </a:p>
        </p:txBody>
      </p:sp>
      <p:sp>
        <p:nvSpPr>
          <p:cNvPr id="16" name="Text 14"/>
          <p:cNvSpPr/>
          <p:nvPr/>
        </p:nvSpPr>
        <p:spPr>
          <a:xfrm>
            <a:off x="6556248" y="1737360"/>
            <a:ext cx="4727448" cy="12344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r>
              <a:rPr sz="1100">
                <a:solidFill>
                  <a:srgbClr val="D2DAE8"/>
                </a:solidFill>
              </a:rPr>
              <a:t>Tuned Weighted MLP ima najveći ROC-AUC = 0.961, ali PR-AUC = 0.740 i F1 = 0.794.</a:t>
            </a:r>
          </a:p>
          <a:p>
            <a:endParaRPr sz="1100">
              <a:solidFill>
                <a:srgbClr val="D2DAE8"/>
              </a:solidFill>
            </a:endParaRPr>
          </a:p>
          <a:p>
            <a:r>
              <a:rPr sz="1100">
                <a:solidFill>
                  <a:srgbClr val="D2DAE8"/>
                </a:solidFill>
              </a:rPr>
              <a:t>Kod retke fraud klase PR-AUC i F1 bolje pokazuju praktičnu upotrebljivost modela od samog ROC-AUC.</a:t>
            </a:r>
          </a:p>
        </p:txBody>
      </p:sp>
      <p:sp>
        <p:nvSpPr>
          <p:cNvPr id="17" name="Shape 15"/>
          <p:cNvSpPr/>
          <p:nvPr/>
        </p:nvSpPr>
        <p:spPr>
          <a:xfrm>
            <a:off x="777240" y="3703320"/>
            <a:ext cx="10652760" cy="1234440"/>
          </a:xfrm>
          <a:prstGeom prst="roundRect">
            <a:avLst>
              <a:gd name="adj" fmla="val 7407"/>
            </a:avLst>
          </a:prstGeom>
          <a:solidFill>
            <a:srgbClr val="172033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005840" y="3886200"/>
            <a:ext cx="3840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r>
              <a:rPr sz="1500" b="1">
                <a:solidFill>
                  <a:srgbClr val="F5F8FF"/>
                </a:solidFill>
              </a:rPr>
              <a:t>Analiza osetljivosti</a:t>
            </a:r>
          </a:p>
        </p:txBody>
      </p:sp>
      <p:sp>
        <p:nvSpPr>
          <p:cNvPr id="19" name="Text 17"/>
          <p:cNvSpPr/>
          <p:nvPr/>
        </p:nvSpPr>
        <p:spPr>
          <a:xfrm>
            <a:off x="1005840" y="4297680"/>
            <a:ext cx="10012680" cy="3840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r>
              <a:rPr sz="1200">
                <a:solidFill>
                  <a:srgbClr val="D2DAE8"/>
                </a:solidFill>
              </a:rPr>
              <a:t>Permutation importance meri pad PR-AUC nakon mešanja jedne kolone.</a:t>
            </a:r>
          </a:p>
          <a:p>
            <a:r>
              <a:rPr sz="1200">
                <a:solidFill>
                  <a:srgbClr val="D2DAE8"/>
                </a:solidFill>
              </a:rPr>
              <a:t>Zbog PCA kolona V1–V28 interpretabilnost je ograničena; Amount ostaje jedini direktno razumljiv poslovni signal.</a:t>
            </a:r>
          </a:p>
        </p:txBody>
      </p:sp>
      <p:sp>
        <p:nvSpPr>
          <p:cNvPr id="21" name="Text 19"/>
          <p:cNvSpPr/>
          <p:nvPr/>
        </p:nvSpPr>
        <p:spPr>
          <a:xfrm>
            <a:off x="11475720" y="6473952"/>
            <a:ext cx="4114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22D3EE"/>
                </a:solidFill>
              </a:rPr>
              <a:t>08</a:t>
            </a:r>
            <a:endParaRPr lang="en-US" sz="900" dirty="0"/>
          </a:p>
        </p:txBody>
      </p:sp>
    </p:spTree>
    <p:extLst>
      <p:ext uri="{BB962C8B-B14F-4D97-AF65-F5344CB8AC3E}">
        <p14:creationId xmlns:p14="http://schemas.microsoft.com/office/powerpoint/2010/main" val="25536601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B10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6720840"/>
            <a:ext cx="12191695" cy="137160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502920"/>
            <a:ext cx="594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2D3EE"/>
                </a:solidFill>
              </a:rPr>
              <a:t>07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1115568" y="667512"/>
            <a:ext cx="411480" cy="0"/>
          </a:xfrm>
          <a:prstGeom prst="line">
            <a:avLst/>
          </a:prstGeom>
          <a:noFill/>
          <a:ln w="12700">
            <a:solidFill>
              <a:srgbClr val="33415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600200" y="448056"/>
            <a:ext cx="8961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r>
              <a:rPr sz="2500" b="1">
                <a:solidFill>
                  <a:srgbClr val="F5F8FF"/>
                </a:solidFill>
              </a:rPr>
              <a:t>Diskusija</a:t>
            </a:r>
          </a:p>
        </p:txBody>
      </p:sp>
      <p:sp>
        <p:nvSpPr>
          <p:cNvPr id="9" name="Shape 7"/>
          <p:cNvSpPr/>
          <p:nvPr/>
        </p:nvSpPr>
        <p:spPr>
          <a:xfrm>
            <a:off x="731520" y="1234440"/>
            <a:ext cx="3429000" cy="1417320"/>
          </a:xfrm>
          <a:prstGeom prst="roundRect">
            <a:avLst>
              <a:gd name="adj" fmla="val 7742"/>
            </a:avLst>
          </a:prstGeom>
          <a:solidFill>
            <a:srgbClr val="172033"/>
          </a:solidFill>
          <a:ln w="12700">
            <a:solidFill>
              <a:srgbClr val="334155">
                <a:alpha val="80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31520" y="1234440"/>
            <a:ext cx="54864" cy="1417320"/>
          </a:xfrm>
          <a:prstGeom prst="rect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32688" y="1399032"/>
            <a:ext cx="308152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r>
              <a:rPr sz="1400" b="1">
                <a:solidFill>
                  <a:srgbClr val="F5F8FF"/>
                </a:solidFill>
              </a:rPr>
              <a:t>Basic MLP — pobednik</a:t>
            </a:r>
          </a:p>
        </p:txBody>
      </p:sp>
      <p:sp>
        <p:nvSpPr>
          <p:cNvPr id="12" name="Text 10"/>
          <p:cNvSpPr/>
          <p:nvPr/>
        </p:nvSpPr>
        <p:spPr>
          <a:xfrm>
            <a:off x="932688" y="1737360"/>
            <a:ext cx="3081528" cy="7772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r>
              <a:rPr sz="1200" dirty="0">
                <a:solidFill>
                  <a:srgbClr val="D2DAE8"/>
                </a:solidFill>
              </a:rPr>
              <a:t>P=0.842, R=0.808, F1=0.825, PR-AUC=0.834. Najbolji </a:t>
            </a:r>
            <a:r>
              <a:rPr sz="1200" dirty="0" err="1">
                <a:solidFill>
                  <a:srgbClr val="D2DAE8"/>
                </a:solidFill>
              </a:rPr>
              <a:t>ukupni</a:t>
            </a:r>
            <a:r>
              <a:rPr sz="1200" dirty="0">
                <a:solidFill>
                  <a:srgbClr val="D2DAE8"/>
                </a:solidFill>
              </a:rPr>
              <a:t> </a:t>
            </a:r>
            <a:r>
              <a:rPr sz="1200" dirty="0" err="1">
                <a:solidFill>
                  <a:srgbClr val="D2DAE8"/>
                </a:solidFill>
              </a:rPr>
              <a:t>balans</a:t>
            </a:r>
            <a:r>
              <a:rPr sz="1200" dirty="0">
                <a:solidFill>
                  <a:srgbClr val="D2DAE8"/>
                </a:solidFill>
              </a:rPr>
              <a:t> </a:t>
            </a:r>
            <a:r>
              <a:rPr sz="1200" dirty="0" err="1">
                <a:solidFill>
                  <a:srgbClr val="D2DAE8"/>
                </a:solidFill>
              </a:rPr>
              <a:t>i</a:t>
            </a:r>
            <a:r>
              <a:rPr sz="1200" dirty="0">
                <a:solidFill>
                  <a:srgbClr val="D2DAE8"/>
                </a:solidFill>
              </a:rPr>
              <a:t> </a:t>
            </a:r>
            <a:r>
              <a:rPr sz="1200" dirty="0" err="1">
                <a:solidFill>
                  <a:srgbClr val="D2DAE8"/>
                </a:solidFill>
              </a:rPr>
              <a:t>najviša</a:t>
            </a:r>
            <a:r>
              <a:rPr sz="1200" dirty="0">
                <a:solidFill>
                  <a:srgbClr val="D2DAE8"/>
                </a:solidFill>
              </a:rPr>
              <a:t> PR-AUC </a:t>
            </a:r>
            <a:r>
              <a:rPr sz="1200" dirty="0" err="1">
                <a:solidFill>
                  <a:srgbClr val="D2DAE8"/>
                </a:solidFill>
              </a:rPr>
              <a:t>vrednost</a:t>
            </a:r>
            <a:r>
              <a:rPr sz="1200" dirty="0">
                <a:solidFill>
                  <a:srgbClr val="D2DAE8"/>
                </a:solidFill>
              </a:rPr>
              <a:t>.</a:t>
            </a:r>
          </a:p>
        </p:txBody>
      </p:sp>
      <p:sp>
        <p:nvSpPr>
          <p:cNvPr id="13" name="Shape 11"/>
          <p:cNvSpPr/>
          <p:nvPr/>
        </p:nvSpPr>
        <p:spPr>
          <a:xfrm>
            <a:off x="4389120" y="1234440"/>
            <a:ext cx="3429000" cy="1417320"/>
          </a:xfrm>
          <a:prstGeom prst="roundRect">
            <a:avLst>
              <a:gd name="adj" fmla="val 7742"/>
            </a:avLst>
          </a:prstGeom>
          <a:solidFill>
            <a:srgbClr val="172033"/>
          </a:solidFill>
          <a:ln w="12700">
            <a:solidFill>
              <a:srgbClr val="334155">
                <a:alpha val="80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389120" y="1234440"/>
            <a:ext cx="54864" cy="1417320"/>
          </a:xfrm>
          <a:prstGeom prst="rect">
            <a:avLst/>
          </a:prstGeom>
          <a:solidFill>
            <a:srgbClr val="FB7185"/>
          </a:solidFill>
          <a:ln w="12700">
            <a:solidFill>
              <a:srgbClr val="FB718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590288" y="1399032"/>
            <a:ext cx="308152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r>
              <a:rPr sz="1400" b="1">
                <a:solidFill>
                  <a:srgbClr val="F5F8FF"/>
                </a:solidFill>
              </a:rPr>
              <a:t>Class weight trade-off</a:t>
            </a:r>
          </a:p>
        </p:txBody>
      </p:sp>
      <p:sp>
        <p:nvSpPr>
          <p:cNvPr id="16" name="Text 14"/>
          <p:cNvSpPr/>
          <p:nvPr/>
        </p:nvSpPr>
        <p:spPr>
          <a:xfrm>
            <a:off x="4590288" y="1737360"/>
            <a:ext cx="3081528" cy="7772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r>
              <a:rPr sz="1200" dirty="0">
                <a:solidFill>
                  <a:srgbClr val="D2DAE8"/>
                </a:solidFill>
              </a:rPr>
              <a:t>Weighted MLP </a:t>
            </a:r>
            <a:r>
              <a:rPr sz="1200" dirty="0" err="1">
                <a:solidFill>
                  <a:srgbClr val="D2DAE8"/>
                </a:solidFill>
              </a:rPr>
              <a:t>povećava</a:t>
            </a:r>
            <a:r>
              <a:rPr sz="1200" dirty="0">
                <a:solidFill>
                  <a:srgbClr val="D2DAE8"/>
                </a:solidFill>
              </a:rPr>
              <a:t> Recall </a:t>
            </a:r>
            <a:r>
              <a:rPr sz="1200" dirty="0" err="1">
                <a:solidFill>
                  <a:srgbClr val="D2DAE8"/>
                </a:solidFill>
              </a:rPr>
              <a:t>na</a:t>
            </a:r>
            <a:r>
              <a:rPr sz="1200" dirty="0">
                <a:solidFill>
                  <a:srgbClr val="D2DAE8"/>
                </a:solidFill>
              </a:rPr>
              <a:t> 0.818, </a:t>
            </a:r>
            <a:r>
              <a:rPr sz="1200" dirty="0" err="1">
                <a:solidFill>
                  <a:srgbClr val="D2DAE8"/>
                </a:solidFill>
              </a:rPr>
              <a:t>ali</a:t>
            </a:r>
            <a:r>
              <a:rPr sz="1200" dirty="0">
                <a:solidFill>
                  <a:srgbClr val="D2DAE8"/>
                </a:solidFill>
              </a:rPr>
              <a:t> Precision pada </a:t>
            </a:r>
            <a:r>
              <a:rPr sz="1200" dirty="0" err="1">
                <a:solidFill>
                  <a:srgbClr val="D2DAE8"/>
                </a:solidFill>
              </a:rPr>
              <a:t>na</a:t>
            </a:r>
            <a:r>
              <a:rPr sz="1200" dirty="0">
                <a:solidFill>
                  <a:srgbClr val="D2DAE8"/>
                </a:solidFill>
              </a:rPr>
              <a:t> 0.692. Više </a:t>
            </a:r>
            <a:r>
              <a:rPr sz="1200" dirty="0" err="1">
                <a:solidFill>
                  <a:srgbClr val="D2DAE8"/>
                </a:solidFill>
              </a:rPr>
              <a:t>uhvaćenih</a:t>
            </a:r>
            <a:r>
              <a:rPr sz="1200" dirty="0">
                <a:solidFill>
                  <a:srgbClr val="D2DAE8"/>
                </a:solidFill>
              </a:rPr>
              <a:t> </a:t>
            </a:r>
            <a:r>
              <a:rPr sz="1200" dirty="0" err="1">
                <a:solidFill>
                  <a:srgbClr val="D2DAE8"/>
                </a:solidFill>
              </a:rPr>
              <a:t>prevara</a:t>
            </a:r>
            <a:r>
              <a:rPr sz="1200" dirty="0">
                <a:solidFill>
                  <a:srgbClr val="D2DAE8"/>
                </a:solidFill>
              </a:rPr>
              <a:t>, </a:t>
            </a:r>
            <a:r>
              <a:rPr sz="1200" dirty="0" err="1">
                <a:solidFill>
                  <a:srgbClr val="D2DAE8"/>
                </a:solidFill>
              </a:rPr>
              <a:t>ali</a:t>
            </a:r>
            <a:r>
              <a:rPr sz="1200" dirty="0">
                <a:solidFill>
                  <a:srgbClr val="D2DAE8"/>
                </a:solidFill>
              </a:rPr>
              <a:t> </a:t>
            </a:r>
            <a:r>
              <a:rPr sz="1200" dirty="0" err="1">
                <a:solidFill>
                  <a:srgbClr val="D2DAE8"/>
                </a:solidFill>
              </a:rPr>
              <a:t>više</a:t>
            </a:r>
            <a:r>
              <a:rPr sz="1200" dirty="0">
                <a:solidFill>
                  <a:srgbClr val="D2DAE8"/>
                </a:solidFill>
              </a:rPr>
              <a:t> </a:t>
            </a:r>
            <a:r>
              <a:rPr sz="1200" dirty="0" err="1">
                <a:solidFill>
                  <a:srgbClr val="D2DAE8"/>
                </a:solidFill>
              </a:rPr>
              <a:t>lažnih</a:t>
            </a:r>
            <a:r>
              <a:rPr sz="1200" dirty="0">
                <a:solidFill>
                  <a:srgbClr val="D2DAE8"/>
                </a:solidFill>
              </a:rPr>
              <a:t> </a:t>
            </a:r>
            <a:r>
              <a:rPr sz="1200" dirty="0" err="1">
                <a:solidFill>
                  <a:srgbClr val="D2DAE8"/>
                </a:solidFill>
              </a:rPr>
              <a:t>uzbuna</a:t>
            </a:r>
            <a:r>
              <a:rPr sz="1200" dirty="0">
                <a:solidFill>
                  <a:srgbClr val="D2DAE8"/>
                </a:solidFill>
              </a:rPr>
              <a:t>.</a:t>
            </a:r>
          </a:p>
        </p:txBody>
      </p:sp>
      <p:sp>
        <p:nvSpPr>
          <p:cNvPr id="17" name="Shape 15"/>
          <p:cNvSpPr/>
          <p:nvPr/>
        </p:nvSpPr>
        <p:spPr>
          <a:xfrm>
            <a:off x="8046720" y="1234440"/>
            <a:ext cx="3429000" cy="1417320"/>
          </a:xfrm>
          <a:prstGeom prst="roundRect">
            <a:avLst>
              <a:gd name="adj" fmla="val 7742"/>
            </a:avLst>
          </a:prstGeom>
          <a:solidFill>
            <a:srgbClr val="172033"/>
          </a:solidFill>
          <a:ln w="12700">
            <a:solidFill>
              <a:srgbClr val="334155">
                <a:alpha val="8000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8046720" y="1234440"/>
            <a:ext cx="54864" cy="1417320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247888" y="1399032"/>
            <a:ext cx="308152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r>
              <a:rPr sz="1400" b="1">
                <a:solidFill>
                  <a:srgbClr val="F5F8FF"/>
                </a:solidFill>
              </a:rPr>
              <a:t>Tuned ≠ automatski bolje</a:t>
            </a:r>
          </a:p>
        </p:txBody>
      </p:sp>
      <p:sp>
        <p:nvSpPr>
          <p:cNvPr id="20" name="Text 18"/>
          <p:cNvSpPr/>
          <p:nvPr/>
        </p:nvSpPr>
        <p:spPr>
          <a:xfrm>
            <a:off x="8247888" y="1737360"/>
            <a:ext cx="3081528" cy="7772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r>
              <a:rPr sz="1200" dirty="0">
                <a:solidFill>
                  <a:srgbClr val="D2DAE8"/>
                </a:solidFill>
              </a:rPr>
              <a:t>Tuned model </a:t>
            </a:r>
            <a:r>
              <a:rPr sz="1200" dirty="0" err="1">
                <a:solidFill>
                  <a:srgbClr val="D2DAE8"/>
                </a:solidFill>
              </a:rPr>
              <a:t>ima</a:t>
            </a:r>
            <a:r>
              <a:rPr sz="1200" dirty="0">
                <a:solidFill>
                  <a:srgbClr val="D2DAE8"/>
                </a:solidFill>
              </a:rPr>
              <a:t> ROC-AUC 0.961, </a:t>
            </a:r>
            <a:r>
              <a:rPr sz="1200" dirty="0" err="1">
                <a:solidFill>
                  <a:srgbClr val="D2DAE8"/>
                </a:solidFill>
              </a:rPr>
              <a:t>ali</a:t>
            </a:r>
            <a:r>
              <a:rPr sz="1200" dirty="0">
                <a:solidFill>
                  <a:srgbClr val="D2DAE8"/>
                </a:solidFill>
              </a:rPr>
              <a:t> F1=0.794 </a:t>
            </a:r>
            <a:r>
              <a:rPr sz="1200" dirty="0" err="1">
                <a:solidFill>
                  <a:srgbClr val="D2DAE8"/>
                </a:solidFill>
              </a:rPr>
              <a:t>i</a:t>
            </a:r>
            <a:r>
              <a:rPr sz="1200" dirty="0">
                <a:solidFill>
                  <a:srgbClr val="D2DAE8"/>
                </a:solidFill>
              </a:rPr>
              <a:t> PR-AUC=0.740. </a:t>
            </a:r>
            <a:r>
              <a:rPr sz="1200" dirty="0" err="1">
                <a:solidFill>
                  <a:srgbClr val="D2DAE8"/>
                </a:solidFill>
              </a:rPr>
              <a:t>Složeniji</a:t>
            </a:r>
            <a:r>
              <a:rPr sz="1200" dirty="0">
                <a:solidFill>
                  <a:srgbClr val="D2DAE8"/>
                </a:solidFill>
              </a:rPr>
              <a:t> model </a:t>
            </a:r>
            <a:r>
              <a:rPr sz="1200" dirty="0" err="1">
                <a:solidFill>
                  <a:srgbClr val="D2DAE8"/>
                </a:solidFill>
              </a:rPr>
              <a:t>nije</a:t>
            </a:r>
            <a:r>
              <a:rPr sz="1200" dirty="0">
                <a:solidFill>
                  <a:srgbClr val="D2DAE8"/>
                </a:solidFill>
              </a:rPr>
              <a:t> </a:t>
            </a:r>
            <a:r>
              <a:rPr sz="1200" dirty="0" err="1">
                <a:solidFill>
                  <a:srgbClr val="D2DAE8"/>
                </a:solidFill>
              </a:rPr>
              <a:t>najbolji</a:t>
            </a:r>
            <a:r>
              <a:rPr sz="1200" dirty="0">
                <a:solidFill>
                  <a:srgbClr val="D2DAE8"/>
                </a:solidFill>
              </a:rPr>
              <a:t> za </a:t>
            </a:r>
            <a:r>
              <a:rPr sz="1200" dirty="0" err="1">
                <a:solidFill>
                  <a:srgbClr val="D2DAE8"/>
                </a:solidFill>
              </a:rPr>
              <a:t>praksu</a:t>
            </a:r>
            <a:r>
              <a:rPr sz="1200" dirty="0">
                <a:solidFill>
                  <a:srgbClr val="D2DAE8"/>
                </a:solidFill>
              </a:rPr>
              <a:t>.</a:t>
            </a:r>
          </a:p>
        </p:txBody>
      </p:sp>
      <p:sp>
        <p:nvSpPr>
          <p:cNvPr id="21" name="Shape 19"/>
          <p:cNvSpPr/>
          <p:nvPr/>
        </p:nvSpPr>
        <p:spPr>
          <a:xfrm>
            <a:off x="731520" y="3063240"/>
            <a:ext cx="3429000" cy="1417320"/>
          </a:xfrm>
          <a:prstGeom prst="roundRect">
            <a:avLst>
              <a:gd name="adj" fmla="val 7742"/>
            </a:avLst>
          </a:prstGeom>
          <a:solidFill>
            <a:srgbClr val="172033"/>
          </a:solidFill>
          <a:ln w="12700">
            <a:solidFill>
              <a:srgbClr val="334155">
                <a:alpha val="8000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731520" y="3063240"/>
            <a:ext cx="54864" cy="1417320"/>
          </a:xfrm>
          <a:prstGeom prst="rect">
            <a:avLst/>
          </a:prstGeom>
          <a:solidFill>
            <a:srgbClr val="FBBF24"/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932688" y="3227832"/>
            <a:ext cx="308152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r>
              <a:rPr sz="1400" b="1">
                <a:solidFill>
                  <a:srgbClr val="F5F8FF"/>
                </a:solidFill>
              </a:rPr>
              <a:t>Autoencoder</a:t>
            </a:r>
          </a:p>
        </p:txBody>
      </p:sp>
      <p:sp>
        <p:nvSpPr>
          <p:cNvPr id="24" name="Text 22"/>
          <p:cNvSpPr/>
          <p:nvPr/>
        </p:nvSpPr>
        <p:spPr>
          <a:xfrm>
            <a:off x="932688" y="3566160"/>
            <a:ext cx="3081528" cy="7772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r>
              <a:rPr sz="1200" dirty="0">
                <a:solidFill>
                  <a:srgbClr val="D2DAE8"/>
                </a:solidFill>
              </a:rPr>
              <a:t>Anomaly detection </a:t>
            </a:r>
            <a:r>
              <a:rPr sz="1200" dirty="0" err="1">
                <a:solidFill>
                  <a:srgbClr val="D2DAE8"/>
                </a:solidFill>
              </a:rPr>
              <a:t>pristup</a:t>
            </a:r>
            <a:r>
              <a:rPr sz="1200" dirty="0">
                <a:solidFill>
                  <a:srgbClr val="D2DAE8"/>
                </a:solidFill>
              </a:rPr>
              <a:t> je </a:t>
            </a:r>
            <a:r>
              <a:rPr sz="1200" dirty="0" err="1">
                <a:solidFill>
                  <a:srgbClr val="D2DAE8"/>
                </a:solidFill>
              </a:rPr>
              <a:t>koristan</a:t>
            </a:r>
            <a:r>
              <a:rPr sz="1200" dirty="0">
                <a:solidFill>
                  <a:srgbClr val="D2DAE8"/>
                </a:solidFill>
              </a:rPr>
              <a:t> </a:t>
            </a:r>
            <a:r>
              <a:rPr sz="1200" dirty="0" err="1">
                <a:solidFill>
                  <a:srgbClr val="D2DAE8"/>
                </a:solidFill>
              </a:rPr>
              <a:t>dodatak</a:t>
            </a:r>
            <a:r>
              <a:rPr sz="1200" dirty="0">
                <a:solidFill>
                  <a:srgbClr val="D2DAE8"/>
                </a:solidFill>
              </a:rPr>
              <a:t>, </a:t>
            </a:r>
            <a:r>
              <a:rPr sz="1200" dirty="0" err="1">
                <a:solidFill>
                  <a:srgbClr val="D2DAE8"/>
                </a:solidFill>
              </a:rPr>
              <a:t>ali</a:t>
            </a:r>
            <a:r>
              <a:rPr sz="1200" dirty="0">
                <a:solidFill>
                  <a:srgbClr val="D2DAE8"/>
                </a:solidFill>
              </a:rPr>
              <a:t> </a:t>
            </a:r>
            <a:r>
              <a:rPr sz="1200" dirty="0" err="1">
                <a:solidFill>
                  <a:srgbClr val="D2DAE8"/>
                </a:solidFill>
              </a:rPr>
              <a:t>rezultat</a:t>
            </a:r>
            <a:r>
              <a:rPr sz="1200" dirty="0">
                <a:solidFill>
                  <a:srgbClr val="D2DAE8"/>
                </a:solidFill>
              </a:rPr>
              <a:t> je </a:t>
            </a:r>
            <a:r>
              <a:rPr sz="1200" dirty="0" err="1">
                <a:solidFill>
                  <a:srgbClr val="D2DAE8"/>
                </a:solidFill>
              </a:rPr>
              <a:t>slabiji</a:t>
            </a:r>
            <a:r>
              <a:rPr sz="1200" dirty="0">
                <a:solidFill>
                  <a:srgbClr val="D2DAE8"/>
                </a:solidFill>
              </a:rPr>
              <a:t>: F1=0.590 </a:t>
            </a:r>
            <a:r>
              <a:rPr sz="1200" dirty="0" err="1">
                <a:solidFill>
                  <a:srgbClr val="D2DAE8"/>
                </a:solidFill>
              </a:rPr>
              <a:t>i</a:t>
            </a:r>
            <a:r>
              <a:rPr sz="1200" dirty="0">
                <a:solidFill>
                  <a:srgbClr val="D2DAE8"/>
                </a:solidFill>
              </a:rPr>
              <a:t> PR-AUC=0.602.</a:t>
            </a:r>
          </a:p>
        </p:txBody>
      </p:sp>
      <p:sp>
        <p:nvSpPr>
          <p:cNvPr id="25" name="Shape 23"/>
          <p:cNvSpPr/>
          <p:nvPr/>
        </p:nvSpPr>
        <p:spPr>
          <a:xfrm>
            <a:off x="4389120" y="3063240"/>
            <a:ext cx="3429000" cy="1417320"/>
          </a:xfrm>
          <a:prstGeom prst="roundRect">
            <a:avLst>
              <a:gd name="adj" fmla="val 7742"/>
            </a:avLst>
          </a:prstGeom>
          <a:solidFill>
            <a:srgbClr val="172033"/>
          </a:solidFill>
          <a:ln w="12700">
            <a:solidFill>
              <a:srgbClr val="334155">
                <a:alpha val="80000"/>
              </a:srgbClr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4389120" y="3063240"/>
            <a:ext cx="54864" cy="1417320"/>
          </a:xfrm>
          <a:prstGeom prst="rect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590288" y="3227832"/>
            <a:ext cx="308152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r>
              <a:rPr sz="1400" b="1">
                <a:solidFill>
                  <a:srgbClr val="F5F8FF"/>
                </a:solidFill>
              </a:rPr>
              <a:t>Poslovni kompromis</a:t>
            </a:r>
          </a:p>
        </p:txBody>
      </p:sp>
      <p:sp>
        <p:nvSpPr>
          <p:cNvPr id="28" name="Text 26"/>
          <p:cNvSpPr/>
          <p:nvPr/>
        </p:nvSpPr>
        <p:spPr>
          <a:xfrm>
            <a:off x="4590288" y="3566160"/>
            <a:ext cx="3081528" cy="7772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r>
              <a:rPr sz="1200" dirty="0">
                <a:solidFill>
                  <a:srgbClr val="D2DAE8"/>
                </a:solidFill>
              </a:rPr>
              <a:t>False Negative = </a:t>
            </a:r>
            <a:r>
              <a:rPr sz="1200" dirty="0" err="1">
                <a:solidFill>
                  <a:srgbClr val="D2DAE8"/>
                </a:solidFill>
              </a:rPr>
              <a:t>propuštena</a:t>
            </a:r>
            <a:r>
              <a:rPr sz="1200" dirty="0">
                <a:solidFill>
                  <a:srgbClr val="D2DAE8"/>
                </a:solidFill>
              </a:rPr>
              <a:t> </a:t>
            </a:r>
            <a:r>
              <a:rPr sz="1200" dirty="0" err="1">
                <a:solidFill>
                  <a:srgbClr val="D2DAE8"/>
                </a:solidFill>
              </a:rPr>
              <a:t>prevara</a:t>
            </a:r>
            <a:r>
              <a:rPr sz="1200" dirty="0">
                <a:solidFill>
                  <a:srgbClr val="D2DAE8"/>
                </a:solidFill>
              </a:rPr>
              <a:t>. False Positive = </a:t>
            </a:r>
            <a:r>
              <a:rPr sz="1200" dirty="0" err="1">
                <a:solidFill>
                  <a:srgbClr val="D2DAE8"/>
                </a:solidFill>
              </a:rPr>
              <a:t>blokiran</a:t>
            </a:r>
            <a:r>
              <a:rPr sz="1200" dirty="0">
                <a:solidFill>
                  <a:srgbClr val="D2DAE8"/>
                </a:solidFill>
              </a:rPr>
              <a:t> </a:t>
            </a:r>
            <a:r>
              <a:rPr sz="1200" dirty="0" err="1">
                <a:solidFill>
                  <a:srgbClr val="D2DAE8"/>
                </a:solidFill>
              </a:rPr>
              <a:t>legitiman</a:t>
            </a:r>
            <a:r>
              <a:rPr sz="1200" dirty="0">
                <a:solidFill>
                  <a:srgbClr val="D2DAE8"/>
                </a:solidFill>
              </a:rPr>
              <a:t> </a:t>
            </a:r>
            <a:r>
              <a:rPr sz="1200" dirty="0" err="1">
                <a:solidFill>
                  <a:srgbClr val="D2DAE8"/>
                </a:solidFill>
              </a:rPr>
              <a:t>korisnik</a:t>
            </a:r>
            <a:r>
              <a:rPr sz="1200" dirty="0">
                <a:solidFill>
                  <a:srgbClr val="D2DAE8"/>
                </a:solidFill>
              </a:rPr>
              <a:t>. Model se </a:t>
            </a:r>
            <a:r>
              <a:rPr sz="1200" dirty="0" err="1">
                <a:solidFill>
                  <a:srgbClr val="D2DAE8"/>
                </a:solidFill>
              </a:rPr>
              <a:t>bira</a:t>
            </a:r>
            <a:r>
              <a:rPr sz="1200" dirty="0">
                <a:solidFill>
                  <a:srgbClr val="D2DAE8"/>
                </a:solidFill>
              </a:rPr>
              <a:t> </a:t>
            </a:r>
            <a:r>
              <a:rPr sz="1200" dirty="0" err="1">
                <a:solidFill>
                  <a:srgbClr val="D2DAE8"/>
                </a:solidFill>
              </a:rPr>
              <a:t>prema</a:t>
            </a:r>
            <a:r>
              <a:rPr sz="1200" dirty="0">
                <a:solidFill>
                  <a:srgbClr val="D2DAE8"/>
                </a:solidFill>
              </a:rPr>
              <a:t> </a:t>
            </a:r>
            <a:r>
              <a:rPr sz="1200" dirty="0" err="1">
                <a:solidFill>
                  <a:srgbClr val="D2DAE8"/>
                </a:solidFill>
              </a:rPr>
              <a:t>ceni</a:t>
            </a:r>
            <a:r>
              <a:rPr sz="1200" dirty="0">
                <a:solidFill>
                  <a:srgbClr val="D2DAE8"/>
                </a:solidFill>
              </a:rPr>
              <a:t> </a:t>
            </a:r>
            <a:r>
              <a:rPr sz="1200" dirty="0" err="1">
                <a:solidFill>
                  <a:srgbClr val="D2DAE8"/>
                </a:solidFill>
              </a:rPr>
              <a:t>greške</a:t>
            </a:r>
            <a:r>
              <a:rPr sz="1200" dirty="0">
                <a:solidFill>
                  <a:srgbClr val="D2DAE8"/>
                </a:solidFill>
              </a:rPr>
              <a:t>.</a:t>
            </a:r>
          </a:p>
        </p:txBody>
      </p:sp>
      <p:sp>
        <p:nvSpPr>
          <p:cNvPr id="29" name="Shape 27"/>
          <p:cNvSpPr/>
          <p:nvPr/>
        </p:nvSpPr>
        <p:spPr>
          <a:xfrm>
            <a:off x="8046720" y="3063240"/>
            <a:ext cx="3429000" cy="1417320"/>
          </a:xfrm>
          <a:prstGeom prst="roundRect">
            <a:avLst>
              <a:gd name="adj" fmla="val 7742"/>
            </a:avLst>
          </a:prstGeom>
          <a:solidFill>
            <a:srgbClr val="172033"/>
          </a:solidFill>
          <a:ln w="12700">
            <a:solidFill>
              <a:srgbClr val="334155">
                <a:alpha val="80000"/>
              </a:srgbClr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8046720" y="3063240"/>
            <a:ext cx="54864" cy="1417320"/>
          </a:xfrm>
          <a:prstGeom prst="rect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8247888" y="3227832"/>
            <a:ext cx="308152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r>
              <a:rPr sz="1400" b="1">
                <a:solidFill>
                  <a:srgbClr val="F5F8FF"/>
                </a:solidFill>
              </a:rPr>
              <a:t>Moguća unapređenja</a:t>
            </a:r>
          </a:p>
        </p:txBody>
      </p:sp>
      <p:sp>
        <p:nvSpPr>
          <p:cNvPr id="32" name="Text 30"/>
          <p:cNvSpPr/>
          <p:nvPr/>
        </p:nvSpPr>
        <p:spPr>
          <a:xfrm>
            <a:off x="8247888" y="3566160"/>
            <a:ext cx="3081528" cy="7772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r>
              <a:rPr sz="1200" dirty="0">
                <a:solidFill>
                  <a:srgbClr val="D2DAE8"/>
                </a:solidFill>
              </a:rPr>
              <a:t>SMOTE/focal loss, </a:t>
            </a:r>
            <a:r>
              <a:rPr sz="1200" dirty="0" err="1">
                <a:solidFill>
                  <a:srgbClr val="D2DAE8"/>
                </a:solidFill>
              </a:rPr>
              <a:t>validacija</a:t>
            </a:r>
            <a:r>
              <a:rPr sz="1200" dirty="0">
                <a:solidFill>
                  <a:srgbClr val="D2DAE8"/>
                </a:solidFill>
              </a:rPr>
              <a:t> po </a:t>
            </a:r>
            <a:r>
              <a:rPr sz="1200" dirty="0" err="1">
                <a:solidFill>
                  <a:srgbClr val="D2DAE8"/>
                </a:solidFill>
              </a:rPr>
              <a:t>vremenu</a:t>
            </a:r>
            <a:r>
              <a:rPr sz="1200" dirty="0">
                <a:solidFill>
                  <a:srgbClr val="D2DAE8"/>
                </a:solidFill>
              </a:rPr>
              <a:t>, tuning threshold-a </a:t>
            </a:r>
            <a:r>
              <a:rPr sz="1200" dirty="0" err="1">
                <a:solidFill>
                  <a:srgbClr val="D2DAE8"/>
                </a:solidFill>
              </a:rPr>
              <a:t>prema</a:t>
            </a:r>
            <a:r>
              <a:rPr sz="1200" dirty="0">
                <a:solidFill>
                  <a:srgbClr val="D2DAE8"/>
                </a:solidFill>
              </a:rPr>
              <a:t> business cost-u </a:t>
            </a:r>
            <a:r>
              <a:rPr sz="1200" dirty="0" err="1">
                <a:solidFill>
                  <a:srgbClr val="D2DAE8"/>
                </a:solidFill>
              </a:rPr>
              <a:t>i</a:t>
            </a:r>
            <a:r>
              <a:rPr sz="1200" dirty="0">
                <a:solidFill>
                  <a:srgbClr val="D2DAE8"/>
                </a:solidFill>
              </a:rPr>
              <a:t> </a:t>
            </a:r>
            <a:r>
              <a:rPr sz="1200" dirty="0" err="1">
                <a:solidFill>
                  <a:srgbClr val="D2DAE8"/>
                </a:solidFill>
              </a:rPr>
              <a:t>dodatni</a:t>
            </a:r>
            <a:r>
              <a:rPr sz="1200" dirty="0">
                <a:solidFill>
                  <a:srgbClr val="D2DAE8"/>
                </a:solidFill>
              </a:rPr>
              <a:t> </a:t>
            </a:r>
            <a:r>
              <a:rPr sz="1200" dirty="0" err="1">
                <a:solidFill>
                  <a:srgbClr val="D2DAE8"/>
                </a:solidFill>
              </a:rPr>
              <a:t>poslovni</a:t>
            </a:r>
            <a:r>
              <a:rPr sz="1200" dirty="0">
                <a:solidFill>
                  <a:srgbClr val="D2DAE8"/>
                </a:solidFill>
              </a:rPr>
              <a:t> </a:t>
            </a:r>
            <a:r>
              <a:rPr sz="1200" dirty="0" err="1">
                <a:solidFill>
                  <a:srgbClr val="D2DAE8"/>
                </a:solidFill>
              </a:rPr>
              <a:t>atributi</a:t>
            </a:r>
            <a:r>
              <a:rPr sz="1200" dirty="0">
                <a:solidFill>
                  <a:srgbClr val="D2DAE8"/>
                </a:solidFill>
              </a:rPr>
              <a:t>.</a:t>
            </a:r>
          </a:p>
        </p:txBody>
      </p:sp>
      <p:sp>
        <p:nvSpPr>
          <p:cNvPr id="34" name="Text 32"/>
          <p:cNvSpPr/>
          <p:nvPr/>
        </p:nvSpPr>
        <p:spPr>
          <a:xfrm>
            <a:off x="11475720" y="6473952"/>
            <a:ext cx="4114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22D3EE"/>
                </a:solidFill>
              </a:rPr>
              <a:t>09</a:t>
            </a:r>
            <a:endParaRPr lang="en-US" sz="900" dirty="0"/>
          </a:p>
        </p:txBody>
      </p:sp>
    </p:spTree>
    <p:extLst>
      <p:ext uri="{BB962C8B-B14F-4D97-AF65-F5344CB8AC3E}">
        <p14:creationId xmlns:p14="http://schemas.microsoft.com/office/powerpoint/2010/main" val="55407706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B10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020"/>
          </a:solidFill>
          <a:ln w="12700">
            <a:solidFill>
              <a:srgbClr val="0B102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6720840"/>
            <a:ext cx="12191695" cy="137160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502920"/>
            <a:ext cx="594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2D3EE"/>
                </a:solidFill>
              </a:rPr>
              <a:t>08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1115568" y="667512"/>
            <a:ext cx="411480" cy="0"/>
          </a:xfrm>
          <a:prstGeom prst="line">
            <a:avLst/>
          </a:prstGeom>
          <a:noFill/>
          <a:ln w="12700">
            <a:solidFill>
              <a:srgbClr val="33415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600200" y="448056"/>
            <a:ext cx="8961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r>
              <a:rPr sz="2500" b="1">
                <a:solidFill>
                  <a:srgbClr val="F5F8FF"/>
                </a:solidFill>
              </a:rPr>
              <a:t>Zaključak</a:t>
            </a:r>
          </a:p>
        </p:txBody>
      </p:sp>
      <p:sp>
        <p:nvSpPr>
          <p:cNvPr id="9" name="Shape 7"/>
          <p:cNvSpPr/>
          <p:nvPr/>
        </p:nvSpPr>
        <p:spPr>
          <a:xfrm>
            <a:off x="777240" y="1234440"/>
            <a:ext cx="10652760" cy="960120"/>
          </a:xfrm>
          <a:prstGeom prst="roundRect">
            <a:avLst>
              <a:gd name="adj" fmla="val 11429"/>
            </a:avLst>
          </a:prstGeom>
          <a:solidFill>
            <a:srgbClr val="172033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51560" y="1572768"/>
            <a:ext cx="10058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/>
            <a:r>
              <a:rPr sz="1600" b="1">
                <a:solidFill>
                  <a:srgbClr val="F5F8FF"/>
                </a:solidFill>
              </a:rPr>
              <a:t>Basic MLP — optimalan izbor: P=0.842 | R=0.808 | F1=0.825 | PR-AUC=0.834</a:t>
            </a:r>
          </a:p>
        </p:txBody>
      </p:sp>
      <p:sp>
        <p:nvSpPr>
          <p:cNvPr id="11" name="Shape 9"/>
          <p:cNvSpPr/>
          <p:nvPr/>
        </p:nvSpPr>
        <p:spPr>
          <a:xfrm>
            <a:off x="914400" y="2743200"/>
            <a:ext cx="475488" cy="475488"/>
          </a:xfrm>
          <a:prstGeom prst="ellipse">
            <a:avLst/>
          </a:prstGeom>
          <a:solidFill>
            <a:srgbClr val="FB7185"/>
          </a:solidFill>
          <a:ln w="12700">
            <a:solidFill>
              <a:srgbClr val="FB718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051560" y="2852928"/>
            <a:ext cx="20116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B1020"/>
                </a:solidFill>
              </a:rPr>
              <a:t>1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1600200" y="2724912"/>
            <a:ext cx="4297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r>
              <a:rPr sz="1400" b="1">
                <a:solidFill>
                  <a:srgbClr val="F5F8FF"/>
                </a:solidFill>
              </a:rPr>
              <a:t>Basic MLP je optimalan</a:t>
            </a:r>
          </a:p>
        </p:txBody>
      </p:sp>
      <p:sp>
        <p:nvSpPr>
          <p:cNvPr id="14" name="Text 12"/>
          <p:cNvSpPr/>
          <p:nvPr/>
        </p:nvSpPr>
        <p:spPr>
          <a:xfrm>
            <a:off x="1600200" y="3063240"/>
            <a:ext cx="4343400" cy="3474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Autofit/>
          </a:bodyPr>
          <a:lstStyle/>
          <a:p>
            <a:r>
              <a:rPr sz="1200" dirty="0" err="1">
                <a:solidFill>
                  <a:srgbClr val="D2DAE8"/>
                </a:solidFill>
              </a:rPr>
              <a:t>Najviši</a:t>
            </a:r>
            <a:r>
              <a:rPr sz="1200" dirty="0">
                <a:solidFill>
                  <a:srgbClr val="D2DAE8"/>
                </a:solidFill>
              </a:rPr>
              <a:t> PR-AUC </a:t>
            </a:r>
            <a:r>
              <a:rPr sz="1200" dirty="0" err="1">
                <a:solidFill>
                  <a:srgbClr val="D2DAE8"/>
                </a:solidFill>
              </a:rPr>
              <a:t>i</a:t>
            </a:r>
            <a:r>
              <a:rPr sz="1200" dirty="0">
                <a:solidFill>
                  <a:srgbClr val="D2DAE8"/>
                </a:solidFill>
              </a:rPr>
              <a:t> </a:t>
            </a:r>
            <a:r>
              <a:rPr sz="1200" dirty="0" err="1">
                <a:solidFill>
                  <a:srgbClr val="D2DAE8"/>
                </a:solidFill>
              </a:rPr>
              <a:t>najbolji</a:t>
            </a:r>
            <a:r>
              <a:rPr sz="1200" dirty="0">
                <a:solidFill>
                  <a:srgbClr val="D2DAE8"/>
                </a:solidFill>
              </a:rPr>
              <a:t> F1/Precision/Recall </a:t>
            </a:r>
            <a:r>
              <a:rPr sz="1200" dirty="0" err="1">
                <a:solidFill>
                  <a:srgbClr val="D2DAE8"/>
                </a:solidFill>
              </a:rPr>
              <a:t>balans</a:t>
            </a:r>
            <a:r>
              <a:rPr sz="1200" dirty="0">
                <a:solidFill>
                  <a:srgbClr val="D2DAE8"/>
                </a:solidFill>
              </a:rPr>
              <a:t>. </a:t>
            </a:r>
            <a:r>
              <a:rPr sz="1200" dirty="0" err="1">
                <a:solidFill>
                  <a:srgbClr val="D2DAE8"/>
                </a:solidFill>
              </a:rPr>
              <a:t>Najkorisniji</a:t>
            </a:r>
            <a:r>
              <a:rPr sz="1200" dirty="0">
                <a:solidFill>
                  <a:srgbClr val="D2DAE8"/>
                </a:solidFill>
              </a:rPr>
              <a:t> model za </a:t>
            </a:r>
            <a:r>
              <a:rPr sz="1200" dirty="0" err="1">
                <a:solidFill>
                  <a:srgbClr val="D2DAE8"/>
                </a:solidFill>
              </a:rPr>
              <a:t>praktičnu</a:t>
            </a:r>
            <a:r>
              <a:rPr sz="1200" dirty="0">
                <a:solidFill>
                  <a:srgbClr val="D2DAE8"/>
                </a:solidFill>
              </a:rPr>
              <a:t> </a:t>
            </a:r>
            <a:r>
              <a:rPr sz="1200" dirty="0" err="1">
                <a:solidFill>
                  <a:srgbClr val="D2DAE8"/>
                </a:solidFill>
              </a:rPr>
              <a:t>klasifikaciju</a:t>
            </a:r>
            <a:r>
              <a:rPr sz="1200" dirty="0">
                <a:solidFill>
                  <a:srgbClr val="D2DAE8"/>
                </a:solidFill>
              </a:rPr>
              <a:t>.</a:t>
            </a:r>
          </a:p>
        </p:txBody>
      </p:sp>
      <p:sp>
        <p:nvSpPr>
          <p:cNvPr id="15" name="Shape 13"/>
          <p:cNvSpPr/>
          <p:nvPr/>
        </p:nvSpPr>
        <p:spPr>
          <a:xfrm>
            <a:off x="6309360" y="2743200"/>
            <a:ext cx="475488" cy="475488"/>
          </a:xfrm>
          <a:prstGeom prst="ellipse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446520" y="2852928"/>
            <a:ext cx="20116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B1020"/>
                </a:solidFill>
              </a:rPr>
              <a:t>2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6995160" y="2724912"/>
            <a:ext cx="4297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r>
              <a:rPr sz="1400" b="1">
                <a:solidFill>
                  <a:srgbClr val="F5F8FF"/>
                </a:solidFill>
              </a:rPr>
              <a:t>Accuracy je varljiva</a:t>
            </a:r>
          </a:p>
        </p:txBody>
      </p:sp>
      <p:sp>
        <p:nvSpPr>
          <p:cNvPr id="18" name="Text 16"/>
          <p:cNvSpPr/>
          <p:nvPr/>
        </p:nvSpPr>
        <p:spPr>
          <a:xfrm>
            <a:off x="6995160" y="3063240"/>
            <a:ext cx="4343400" cy="3474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Autofit/>
          </a:bodyPr>
          <a:lstStyle/>
          <a:p>
            <a:r>
              <a:rPr sz="1200" dirty="0">
                <a:solidFill>
                  <a:srgbClr val="D2DAE8"/>
                </a:solidFill>
              </a:rPr>
              <a:t>Baseline </a:t>
            </a:r>
            <a:r>
              <a:rPr sz="1200" dirty="0" err="1">
                <a:solidFill>
                  <a:srgbClr val="D2DAE8"/>
                </a:solidFill>
              </a:rPr>
              <a:t>ima</a:t>
            </a:r>
            <a:r>
              <a:rPr sz="1200" dirty="0">
                <a:solidFill>
                  <a:srgbClr val="D2DAE8"/>
                </a:solidFill>
              </a:rPr>
              <a:t> 0 za Precision, Recall </a:t>
            </a:r>
            <a:r>
              <a:rPr sz="1200" dirty="0" err="1">
                <a:solidFill>
                  <a:srgbClr val="D2DAE8"/>
                </a:solidFill>
              </a:rPr>
              <a:t>i</a:t>
            </a:r>
            <a:r>
              <a:rPr sz="1200" dirty="0">
                <a:solidFill>
                  <a:srgbClr val="D2DAE8"/>
                </a:solidFill>
              </a:rPr>
              <a:t> F1 </a:t>
            </a:r>
            <a:r>
              <a:rPr sz="1200" dirty="0" err="1">
                <a:solidFill>
                  <a:srgbClr val="D2DAE8"/>
                </a:solidFill>
              </a:rPr>
              <a:t>nad</a:t>
            </a:r>
            <a:r>
              <a:rPr sz="1200" dirty="0">
                <a:solidFill>
                  <a:srgbClr val="D2DAE8"/>
                </a:solidFill>
              </a:rPr>
              <a:t> fraud </a:t>
            </a:r>
            <a:r>
              <a:rPr sz="1200" dirty="0" err="1">
                <a:solidFill>
                  <a:srgbClr val="D2DAE8"/>
                </a:solidFill>
              </a:rPr>
              <a:t>klasom</a:t>
            </a:r>
            <a:r>
              <a:rPr sz="1200" dirty="0">
                <a:solidFill>
                  <a:srgbClr val="D2DAE8"/>
                </a:solidFill>
              </a:rPr>
              <a:t> — </a:t>
            </a:r>
            <a:r>
              <a:rPr sz="1200" dirty="0" err="1">
                <a:solidFill>
                  <a:srgbClr val="D2DAE8"/>
                </a:solidFill>
              </a:rPr>
              <a:t>zato</a:t>
            </a:r>
            <a:r>
              <a:rPr sz="1200" dirty="0">
                <a:solidFill>
                  <a:srgbClr val="D2DAE8"/>
                </a:solidFill>
              </a:rPr>
              <a:t> </a:t>
            </a:r>
            <a:r>
              <a:rPr sz="1200" dirty="0" err="1">
                <a:solidFill>
                  <a:srgbClr val="D2DAE8"/>
                </a:solidFill>
              </a:rPr>
              <a:t>nema</a:t>
            </a:r>
            <a:r>
              <a:rPr sz="1200" dirty="0">
                <a:solidFill>
                  <a:srgbClr val="D2DAE8"/>
                </a:solidFill>
              </a:rPr>
              <a:t> </a:t>
            </a:r>
            <a:r>
              <a:rPr sz="1200" dirty="0" err="1">
                <a:solidFill>
                  <a:srgbClr val="D2DAE8"/>
                </a:solidFill>
              </a:rPr>
              <a:t>praktičnu</a:t>
            </a:r>
            <a:r>
              <a:rPr sz="1200" dirty="0">
                <a:solidFill>
                  <a:srgbClr val="D2DAE8"/>
                </a:solidFill>
              </a:rPr>
              <a:t> </a:t>
            </a:r>
            <a:r>
              <a:rPr sz="1200" dirty="0" err="1">
                <a:solidFill>
                  <a:srgbClr val="D2DAE8"/>
                </a:solidFill>
              </a:rPr>
              <a:t>vrednost</a:t>
            </a:r>
            <a:r>
              <a:rPr sz="1200" dirty="0">
                <a:solidFill>
                  <a:srgbClr val="D2DAE8"/>
                </a:solidFill>
              </a:rPr>
              <a:t>.</a:t>
            </a:r>
          </a:p>
        </p:txBody>
      </p:sp>
      <p:sp>
        <p:nvSpPr>
          <p:cNvPr id="19" name="Shape 17"/>
          <p:cNvSpPr/>
          <p:nvPr/>
        </p:nvSpPr>
        <p:spPr>
          <a:xfrm>
            <a:off x="914400" y="3977640"/>
            <a:ext cx="475488" cy="475488"/>
          </a:xfrm>
          <a:prstGeom prst="ellipse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051560" y="4087368"/>
            <a:ext cx="20116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B1020"/>
                </a:solidFill>
              </a:rPr>
              <a:t>3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1600200" y="3959352"/>
            <a:ext cx="4297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r>
              <a:rPr sz="1400" b="1">
                <a:solidFill>
                  <a:srgbClr val="F5F8FF"/>
                </a:solidFill>
              </a:rPr>
              <a:t>Class weight pomaže, ali košta</a:t>
            </a:r>
          </a:p>
        </p:txBody>
      </p:sp>
      <p:sp>
        <p:nvSpPr>
          <p:cNvPr id="22" name="Text 20"/>
          <p:cNvSpPr/>
          <p:nvPr/>
        </p:nvSpPr>
        <p:spPr>
          <a:xfrm>
            <a:off x="1600200" y="4297680"/>
            <a:ext cx="4343400" cy="3474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Autofit/>
          </a:bodyPr>
          <a:lstStyle/>
          <a:p>
            <a:r>
              <a:rPr sz="1200" dirty="0">
                <a:solidFill>
                  <a:srgbClr val="D2DAE8"/>
                </a:solidFill>
              </a:rPr>
              <a:t>Weighted MLP </a:t>
            </a:r>
            <a:r>
              <a:rPr sz="1200" dirty="0" err="1">
                <a:solidFill>
                  <a:srgbClr val="D2DAE8"/>
                </a:solidFill>
              </a:rPr>
              <a:t>malo</a:t>
            </a:r>
            <a:r>
              <a:rPr sz="1200" dirty="0">
                <a:solidFill>
                  <a:srgbClr val="D2DAE8"/>
                </a:solidFill>
              </a:rPr>
              <a:t> </a:t>
            </a:r>
            <a:r>
              <a:rPr sz="1200" dirty="0" err="1">
                <a:solidFill>
                  <a:srgbClr val="D2DAE8"/>
                </a:solidFill>
              </a:rPr>
              <a:t>povećava</a:t>
            </a:r>
            <a:r>
              <a:rPr sz="1200" dirty="0">
                <a:solidFill>
                  <a:srgbClr val="D2DAE8"/>
                </a:solidFill>
              </a:rPr>
              <a:t> Recall, </a:t>
            </a:r>
            <a:r>
              <a:rPr sz="1200" dirty="0" err="1">
                <a:solidFill>
                  <a:srgbClr val="D2DAE8"/>
                </a:solidFill>
              </a:rPr>
              <a:t>ali</a:t>
            </a:r>
            <a:r>
              <a:rPr sz="1200" dirty="0">
                <a:solidFill>
                  <a:srgbClr val="D2DAE8"/>
                </a:solidFill>
              </a:rPr>
              <a:t> Precision </a:t>
            </a:r>
            <a:r>
              <a:rPr sz="1200" dirty="0" err="1">
                <a:solidFill>
                  <a:srgbClr val="D2DAE8"/>
                </a:solidFill>
              </a:rPr>
              <a:t>značajno</a:t>
            </a:r>
            <a:r>
              <a:rPr sz="1200" dirty="0">
                <a:solidFill>
                  <a:srgbClr val="D2DAE8"/>
                </a:solidFill>
              </a:rPr>
              <a:t> </a:t>
            </a:r>
            <a:r>
              <a:rPr sz="1200" dirty="0" err="1">
                <a:solidFill>
                  <a:srgbClr val="D2DAE8"/>
                </a:solidFill>
              </a:rPr>
              <a:t>opada</a:t>
            </a:r>
            <a:r>
              <a:rPr sz="1200" dirty="0">
                <a:solidFill>
                  <a:srgbClr val="D2DAE8"/>
                </a:solidFill>
              </a:rPr>
              <a:t>. Više </a:t>
            </a:r>
            <a:r>
              <a:rPr sz="1200" dirty="0" err="1">
                <a:solidFill>
                  <a:srgbClr val="D2DAE8"/>
                </a:solidFill>
              </a:rPr>
              <a:t>lažnih</a:t>
            </a:r>
            <a:r>
              <a:rPr sz="1200" dirty="0">
                <a:solidFill>
                  <a:srgbClr val="D2DAE8"/>
                </a:solidFill>
              </a:rPr>
              <a:t> </a:t>
            </a:r>
            <a:r>
              <a:rPr sz="1200" dirty="0" err="1">
                <a:solidFill>
                  <a:srgbClr val="D2DAE8"/>
                </a:solidFill>
              </a:rPr>
              <a:t>uzbuna</a:t>
            </a:r>
            <a:r>
              <a:rPr sz="1200" dirty="0">
                <a:solidFill>
                  <a:srgbClr val="D2DAE8"/>
                </a:solidFill>
              </a:rPr>
              <a:t>.</a:t>
            </a:r>
          </a:p>
        </p:txBody>
      </p:sp>
      <p:sp>
        <p:nvSpPr>
          <p:cNvPr id="23" name="Shape 21"/>
          <p:cNvSpPr/>
          <p:nvPr/>
        </p:nvSpPr>
        <p:spPr>
          <a:xfrm>
            <a:off x="6309360" y="3977640"/>
            <a:ext cx="475488" cy="475488"/>
          </a:xfrm>
          <a:prstGeom prst="ellipse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446520" y="4087368"/>
            <a:ext cx="20116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B1020"/>
                </a:solidFill>
              </a:rPr>
              <a:t>4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6995160" y="3959352"/>
            <a:ext cx="4297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r>
              <a:rPr sz="1400" b="1">
                <a:solidFill>
                  <a:srgbClr val="F5F8FF"/>
                </a:solidFill>
              </a:rPr>
              <a:t>Autoencoder je dodatni pogled</a:t>
            </a:r>
          </a:p>
        </p:txBody>
      </p:sp>
      <p:sp>
        <p:nvSpPr>
          <p:cNvPr id="26" name="Text 24"/>
          <p:cNvSpPr/>
          <p:nvPr/>
        </p:nvSpPr>
        <p:spPr>
          <a:xfrm>
            <a:off x="6995160" y="4297680"/>
            <a:ext cx="4343400" cy="3474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Autofit/>
          </a:bodyPr>
          <a:lstStyle/>
          <a:p>
            <a:r>
              <a:rPr sz="1200" dirty="0" err="1">
                <a:solidFill>
                  <a:srgbClr val="D2DAE8"/>
                </a:solidFill>
              </a:rPr>
              <a:t>Koristan</a:t>
            </a:r>
            <a:r>
              <a:rPr sz="1200" dirty="0">
                <a:solidFill>
                  <a:srgbClr val="D2DAE8"/>
                </a:solidFill>
              </a:rPr>
              <a:t> za anomaly detection, </a:t>
            </a:r>
            <a:r>
              <a:rPr sz="1200" dirty="0" err="1">
                <a:solidFill>
                  <a:srgbClr val="D2DAE8"/>
                </a:solidFill>
              </a:rPr>
              <a:t>ali</a:t>
            </a:r>
            <a:r>
              <a:rPr sz="1200" dirty="0">
                <a:solidFill>
                  <a:srgbClr val="D2DAE8"/>
                </a:solidFill>
              </a:rPr>
              <a:t> u </a:t>
            </a:r>
            <a:r>
              <a:rPr sz="1200" dirty="0" err="1">
                <a:solidFill>
                  <a:srgbClr val="D2DAE8"/>
                </a:solidFill>
              </a:rPr>
              <a:t>ovom</a:t>
            </a:r>
            <a:r>
              <a:rPr sz="1200" dirty="0">
                <a:solidFill>
                  <a:srgbClr val="D2DAE8"/>
                </a:solidFill>
              </a:rPr>
              <a:t> </a:t>
            </a:r>
            <a:r>
              <a:rPr sz="1200" dirty="0" err="1">
                <a:solidFill>
                  <a:srgbClr val="D2DAE8"/>
                </a:solidFill>
              </a:rPr>
              <a:t>eksperimentu</a:t>
            </a:r>
            <a:r>
              <a:rPr sz="1200" dirty="0">
                <a:solidFill>
                  <a:srgbClr val="D2DAE8"/>
                </a:solidFill>
              </a:rPr>
              <a:t> ne </a:t>
            </a:r>
            <a:r>
              <a:rPr sz="1200" dirty="0" err="1">
                <a:solidFill>
                  <a:srgbClr val="D2DAE8"/>
                </a:solidFill>
              </a:rPr>
              <a:t>nadmašuje</a:t>
            </a:r>
            <a:r>
              <a:rPr sz="1200" dirty="0">
                <a:solidFill>
                  <a:srgbClr val="D2DAE8"/>
                </a:solidFill>
              </a:rPr>
              <a:t> supervised MLP </a:t>
            </a:r>
            <a:r>
              <a:rPr sz="1200" dirty="0" err="1">
                <a:solidFill>
                  <a:srgbClr val="D2DAE8"/>
                </a:solidFill>
              </a:rPr>
              <a:t>modele</a:t>
            </a:r>
            <a:r>
              <a:rPr sz="1200" dirty="0">
                <a:solidFill>
                  <a:srgbClr val="D2DAE8"/>
                </a:solidFill>
              </a:rPr>
              <a:t>.</a:t>
            </a:r>
          </a:p>
        </p:txBody>
      </p:sp>
      <p:sp>
        <p:nvSpPr>
          <p:cNvPr id="28" name="Text 26"/>
          <p:cNvSpPr/>
          <p:nvPr/>
        </p:nvSpPr>
        <p:spPr>
          <a:xfrm>
            <a:off x="11475720" y="6473952"/>
            <a:ext cx="4114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22D3EE"/>
                </a:solidFill>
              </a:rPr>
              <a:t>10</a:t>
            </a:r>
            <a:endParaRPr lang="en-US" sz="900" dirty="0"/>
          </a:p>
        </p:txBody>
      </p:sp>
    </p:spTree>
    <p:extLst>
      <p:ext uri="{BB962C8B-B14F-4D97-AF65-F5344CB8AC3E}">
        <p14:creationId xmlns:p14="http://schemas.microsoft.com/office/powerpoint/2010/main" val="61315513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B10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020"/>
          </a:solidFill>
          <a:ln w="12700">
            <a:solidFill>
              <a:srgbClr val="0B102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6720840"/>
            <a:ext cx="12191695" cy="137160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85800" y="2148840"/>
            <a:ext cx="10789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F8FAFC"/>
                </a:solidFill>
              </a:rPr>
              <a:t>Hvala na pažnji!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685800" y="2971800"/>
            <a:ext cx="10789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22D3EE"/>
                </a:solidFill>
              </a:rPr>
              <a:t>Pitanja?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2788920" y="4251960"/>
            <a:ext cx="6583680" cy="594360"/>
          </a:xfrm>
          <a:prstGeom prst="roundRect">
            <a:avLst>
              <a:gd name="adj" fmla="val 15385"/>
            </a:avLst>
          </a:prstGeom>
          <a:solidFill>
            <a:srgbClr val="172033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971800" y="4462272"/>
            <a:ext cx="6217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94A3B8"/>
                </a:solidFill>
                <a:ea typeface="+mn-lt"/>
                <a:cs typeface="+mn-lt"/>
              </a:rPr>
              <a:t>github.com/</a:t>
            </a:r>
            <a:r>
              <a:rPr lang="en-US" sz="1400" dirty="0" err="1">
                <a:solidFill>
                  <a:srgbClr val="94A3B8"/>
                </a:solidFill>
                <a:ea typeface="+mn-lt"/>
                <a:cs typeface="+mn-lt"/>
              </a:rPr>
              <a:t>Teofilije</a:t>
            </a:r>
            <a:r>
              <a:rPr lang="en-US" sz="1400" dirty="0">
                <a:solidFill>
                  <a:srgbClr val="94A3B8"/>
                </a:solidFill>
                <a:ea typeface="+mn-lt"/>
                <a:cs typeface="+mn-lt"/>
              </a:rPr>
              <a:t>/credit-card-fraud-detection-</a:t>
            </a:r>
            <a:r>
              <a:rPr lang="en-US" sz="1400" dirty="0" err="1">
                <a:solidFill>
                  <a:srgbClr val="94A3B8"/>
                </a:solidFill>
                <a:ea typeface="+mn-lt"/>
                <a:cs typeface="+mn-lt"/>
              </a:rPr>
              <a:t>nn</a:t>
            </a:r>
            <a:r>
              <a:rPr lang="en-US" sz="1400" dirty="0">
                <a:solidFill>
                  <a:srgbClr val="94A3B8"/>
                </a:solidFill>
                <a:ea typeface="+mn-lt"/>
                <a:cs typeface="+mn-lt"/>
              </a:rPr>
              <a:t>.git</a:t>
            </a:r>
            <a:endParaRPr lang="sr-Latn-RS" sz="1400" dirty="0" err="1">
              <a:ea typeface="+mn-lt"/>
              <a:cs typeface="+mn-lt"/>
            </a:endParaRPr>
          </a:p>
        </p:txBody>
      </p:sp>
      <p:sp>
        <p:nvSpPr>
          <p:cNvPr id="10" name="Text 8"/>
          <p:cNvSpPr/>
          <p:nvPr/>
        </p:nvSpPr>
        <p:spPr>
          <a:xfrm>
            <a:off x="11475720" y="6473952"/>
            <a:ext cx="4114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22D3EE"/>
                </a:solidFill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Široki ekran</PresentationFormat>
  <Paragraphs>0</Paragraphs>
  <Slides>11</Slides>
  <Notes>11</Notes>
  <HiddenSlides>0</HiddenSlides>
  <MMClips>0</MMClips>
  <ScaleCrop>false</ScaleCrop>
  <HeadingPairs>
    <vt:vector size="4" baseType="variant">
      <vt:variant>
        <vt:lpstr>Tema</vt:lpstr>
      </vt:variant>
      <vt:variant>
        <vt:i4>1</vt:i4>
      </vt:variant>
      <vt:variant>
        <vt:lpstr>Naslovi slajdova</vt:lpstr>
      </vt:variant>
      <vt:variant>
        <vt:i4>11</vt:i4>
      </vt:variant>
    </vt:vector>
  </HeadingPairs>
  <TitlesOfParts>
    <vt:vector size="12" baseType="lpstr">
      <vt:lpstr>Office Theme</vt:lpstr>
      <vt:lpstr>PowerPoint prezentacija</vt:lpstr>
      <vt:lpstr>PowerPoint prezentacija</vt:lpstr>
      <vt:lpstr>PowerPoint prezentacija</vt:lpstr>
      <vt:lpstr>PowerPoint prezentacija</vt:lpstr>
      <vt:lpstr>PowerPoint prezentacija</vt:lpstr>
      <vt:lpstr>PowerPoint prezentacija</vt:lpstr>
      <vt:lpstr>PowerPoint prezentacija</vt:lpstr>
      <vt:lpstr>PowerPoint prezentacija</vt:lpstr>
      <vt:lpstr>PowerPoint prezentacija</vt:lpstr>
      <vt:lpstr>PowerPoint prezentacija</vt:lpstr>
      <vt:lpstr>PowerPoint prezentacija</vt:lpstr>
    </vt:vector>
  </TitlesOfParts>
  <Company>Academic project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Credit Card Fraud Detection — MLP &amp; Autoencoder</dc:title>
  <dc:subject>Credit Card Fraud Detection using Neural Networks</dc:subject>
  <dc:creator>OpenAI</dc:creator>
  <cp:lastModifiedBy>OpenAI</cp:lastModifiedBy>
  <cp:revision>218</cp:revision>
  <dcterms:created xsi:type="dcterms:W3CDTF">2026-05-30T20:59:46Z</dcterms:created>
  <dcterms:modified xsi:type="dcterms:W3CDTF">2026-05-31T10:47:50Z</dcterms:modified>
</cp:coreProperties>
</file>